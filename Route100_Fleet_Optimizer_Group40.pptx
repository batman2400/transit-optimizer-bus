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F0E77D-710E-C42A-BABC-CAF55E3D7E2D}">
          <p14:sldIdLst>
            <p14:sldId id="256"/>
            <p14:sldId id="257"/>
          </p14:sldIdLst>
        </p14:section>
        <p14:section name="Part 1: Data &amp; Domain" id="{B2FAFE2C-3E21-0A3F-40E9-20906B358329}">
          <p14:sldIdLst>
            <p14:sldId id="258"/>
            <p14:sldId id="259"/>
          </p14:sldIdLst>
        </p14:section>
        <p14:section name="Part 2: Deep Learning" id="{7FFAE7BF-30D1-2E60-CDF6-BD0653AD5DF9}">
          <p14:sldIdLst>
            <p14:sldId id="260"/>
            <p14:sldId id="261"/>
            <p14:sldId id="262"/>
          </p14:sldIdLst>
        </p14:section>
        <p14:section name="Part 3: Dispatch &amp; API" id="{B0989E2A-6527-A516-3239-C83EF9329DED}">
          <p14:sldIdLst>
            <p14:sldId id="263"/>
            <p14:sldId id="264"/>
            <p14:sldId id="265"/>
          </p14:sldIdLst>
        </p14:section>
        <p14:section name="Part 4: Dashboard &amp; Demo" id="{D0868FB9-42AA-4A63-5698-BA5EEB24B50B}">
          <p14:sldIdLst>
            <p14:sldId id="266"/>
            <p14:sldId id="267"/>
            <p14:sldId id="268"/>
          </p14:sldIdLst>
        </p14:section>
        <p14:section name="Close" id="{FE6940A1-AD90-B0C6-5E08-C2C9645C7B6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76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project: an AI-powered dispatch decision-support system for SLTB Route 100 (Panadura to Pettah on Galle Road), the busiest coastal commuter artery in Sri Lanka.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introduces themselves with their focus area. Names are mapped to Member 1-4 in the order listed on the registration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bus falls slightly behind, passengers accumulate; the delayed bus takes longer at each stop, while the bus behind catches up with empty seats. Static schedules cannot react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~800k dataset was built with process_hybrid_dataset.py: Kaggle base distributions combined with Route 100 patterns. Directional asymmetry (morning inbound, evening outbound), gravity weights across the 8 Galle Road hubs, school rush multiplier, official LK holiday calendar, monsoon rain, and ~5% special event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 MLP (128, 64, 32) instead of a linear model: non-linear interactions between hour, direction, weather, holidays and stop. Huber loss avoids gradient explosion during extreme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Time-based 80/20 split on date prevents look-ahead bias. Scalers and encoders are fitted only on the training partition. Show training logs / loss convergence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dash on each metric card with the overall MAE, RMSE and R² from backend/models/metrics.json. Then highlight the slice breakdown: rainy vs clear and peak vs off-peak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steps in dispatch.py. Peak demand drives fleet size at 80 pax per bus; headway is 60 divided by buses, clamped to 3-30 minutes. The example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 = baseline travel time x peak congestion multiplier + dwell delays (0.05 x predicted stop passengers).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exposes /predict, /metrics and /health, with automatic Swagger docs. enrich_calendar turns an ISO date into day of week, school rush flag and Sri Lankan holiday mode before the model runs. Integration checks live in test_verification.py.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with Next.js/React. Light depot-board theme with Fraunces and Manrope typography. Top KPIs, 8-stop corridor rail, and scenario controls. The mockup numbers are illustrative; use real screenshots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backend/main.py and the Next.js dev server beforehand. Sequence: (1) off-peak midday, (2) 07:30 inbound to Pettah, (3) toggle rain / school rush. Headway ranges are the expected behaviour; confirm against the real system during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dispatch decisions driven by predicted demand rather than static timetables. Scalable to other Colombo corridors. Future work items are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Group 40  ·  AI-Powered Dynamic Public Transport Fleet Optimizer (Route 100)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Group 40  ·  AI-Powered Dynamic Public Transport Fleet Optimizer (Route 100)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69494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77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2"/>
                </a:solidFill>
              </a:rPr>
              <a:t>GROUP 40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07720" y="196596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AI-Powered Dynamic Public Transport Fleet Optimizer (Route 100)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07720" y="4663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Demand-driven dispatch for SLTB Route 100 · Panadura ↔ Pettah along Galle Road</a:t>
            </a:r>
            <a:endParaRPr lang="en-US" sz="1800" dirty="0"/>
          </a:p>
        </p:txBody>
      </p:sp>
      <p:sp>
        <p:nvSpPr>
          <p:cNvPr id="6" name="Route line"/>
          <p:cNvSpPr/>
          <p:nvPr/>
        </p:nvSpPr>
        <p:spPr>
          <a:xfrm>
            <a:off x="9418320" y="914400"/>
            <a:ext cx="0" cy="4937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op Panadura"/>
          <p:cNvSpPr/>
          <p:nvPr/>
        </p:nvSpPr>
        <p:spPr>
          <a:xfrm>
            <a:off x="9281160" y="7772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784080" y="758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Panadura</a:t>
            </a:r>
            <a:endParaRPr lang="en-US" sz="1500" dirty="0"/>
          </a:p>
        </p:txBody>
      </p:sp>
      <p:sp>
        <p:nvSpPr>
          <p:cNvPr id="9" name="Stop Moratuwa"/>
          <p:cNvSpPr/>
          <p:nvPr/>
        </p:nvSpPr>
        <p:spPr>
          <a:xfrm>
            <a:off x="9281160" y="1482634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784080" y="146434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Moratuwa</a:t>
            </a:r>
            <a:endParaRPr lang="en-US" sz="1500" dirty="0"/>
          </a:p>
        </p:txBody>
      </p:sp>
      <p:sp>
        <p:nvSpPr>
          <p:cNvPr id="11" name="Stop Mt. Lavinia"/>
          <p:cNvSpPr/>
          <p:nvPr/>
        </p:nvSpPr>
        <p:spPr>
          <a:xfrm>
            <a:off x="9281160" y="2188029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784080" y="2169741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Mt. Lavinia</a:t>
            </a:r>
            <a:endParaRPr lang="en-US" sz="1500" dirty="0"/>
          </a:p>
        </p:txBody>
      </p:sp>
      <p:sp>
        <p:nvSpPr>
          <p:cNvPr id="13" name="Stop Dehiwala"/>
          <p:cNvSpPr/>
          <p:nvPr/>
        </p:nvSpPr>
        <p:spPr>
          <a:xfrm>
            <a:off x="9281160" y="2893423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784080" y="2875135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Dehiwala</a:t>
            </a:r>
            <a:endParaRPr lang="en-US" sz="1500" dirty="0"/>
          </a:p>
        </p:txBody>
      </p:sp>
      <p:sp>
        <p:nvSpPr>
          <p:cNvPr id="15" name="Stop Wellawatta"/>
          <p:cNvSpPr/>
          <p:nvPr/>
        </p:nvSpPr>
        <p:spPr>
          <a:xfrm>
            <a:off x="9281160" y="3598817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784080" y="3580529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Wellawatta</a:t>
            </a:r>
            <a:endParaRPr lang="en-US" sz="1500" dirty="0"/>
          </a:p>
        </p:txBody>
      </p:sp>
      <p:sp>
        <p:nvSpPr>
          <p:cNvPr id="17" name="Stop Bambalapitiya"/>
          <p:cNvSpPr/>
          <p:nvPr/>
        </p:nvSpPr>
        <p:spPr>
          <a:xfrm>
            <a:off x="9281160" y="4304211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784080" y="428592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Bambalapitiya</a:t>
            </a:r>
            <a:endParaRPr lang="en-US" sz="1500" dirty="0"/>
          </a:p>
        </p:txBody>
      </p:sp>
      <p:sp>
        <p:nvSpPr>
          <p:cNvPr id="19" name="Stop Kollupitiya"/>
          <p:cNvSpPr/>
          <p:nvPr/>
        </p:nvSpPr>
        <p:spPr>
          <a:xfrm>
            <a:off x="9281160" y="500960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784080" y="499131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Kollupitiya</a:t>
            </a:r>
            <a:endParaRPr lang="en-US" sz="1500" dirty="0"/>
          </a:p>
        </p:txBody>
      </p:sp>
      <p:sp>
        <p:nvSpPr>
          <p:cNvPr id="21" name="Stop Pettah"/>
          <p:cNvSpPr/>
          <p:nvPr/>
        </p:nvSpPr>
        <p:spPr>
          <a:xfrm>
            <a:off x="9281160" y="57150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784080" y="5696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Pettah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19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OUR TEAM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8908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 40</a:t>
            </a:r>
            <a:endParaRPr lang="en-US" sz="3400" dirty="0"/>
          </a:p>
        </p:txBody>
      </p:sp>
      <p:sp>
        <p:nvSpPr>
          <p:cNvPr id="4" name="Member card 1"/>
          <p:cNvSpPr/>
          <p:nvPr/>
        </p:nvSpPr>
        <p:spPr>
          <a:xfrm>
            <a:off x="54864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 Uvaram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D/BSE/25/0012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Software Engineering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engineering &amp; Colombo domain modeling</a:t>
            </a:r>
            <a:endParaRPr lang="en-US" sz="1400" dirty="0"/>
          </a:p>
        </p:txBody>
      </p:sp>
      <p:sp>
        <p:nvSpPr>
          <p:cNvPr id="12" name="Member card 2"/>
          <p:cNvSpPr/>
          <p:nvPr/>
        </p:nvSpPr>
        <p:spPr>
          <a:xfrm>
            <a:off x="338328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365760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TTC Jayasinghe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D/DBA/25/0016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 Science &amp; Business Analytics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65760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Deep learning architecture &amp; model training</a:t>
            </a:r>
            <a:endParaRPr lang="en-US" sz="1400" dirty="0"/>
          </a:p>
        </p:txBody>
      </p:sp>
      <p:sp>
        <p:nvSpPr>
          <p:cNvPr id="20" name="Member card 3"/>
          <p:cNvSpPr/>
          <p:nvPr/>
        </p:nvSpPr>
        <p:spPr>
          <a:xfrm>
            <a:off x="621792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649224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SNMRDS Arambepola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49224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D/BIT/24/0039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49224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Information Technology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49224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Dispatch logic &amp; backend API</a:t>
            </a:r>
            <a:endParaRPr lang="en-US" sz="1400" dirty="0"/>
          </a:p>
        </p:txBody>
      </p:sp>
      <p:sp>
        <p:nvSpPr>
          <p:cNvPr id="28" name="Member card 4"/>
          <p:cNvSpPr/>
          <p:nvPr/>
        </p:nvSpPr>
        <p:spPr>
          <a:xfrm>
            <a:off x="905256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932688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JGJB Gamage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932688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D/BIT/24/0056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32688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Information Technology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932688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Frontend dashboard &amp; live demo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· THE TRANSIT CHALLENGE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M Uvaram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Static schedules cause bus bunching</a:t>
            </a:r>
            <a:endParaRPr lang="en-US" sz="3400" dirty="0"/>
          </a:p>
        </p:txBody>
      </p:sp>
      <p:sp>
        <p:nvSpPr>
          <p:cNvPr id="6" name="Problem icon 1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roblem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One bus slips behind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128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More passengers gather at each stop, so dwell time keeps growing.</a:t>
            </a:r>
            <a:endParaRPr lang="en-US" sz="1500" dirty="0"/>
          </a:p>
        </p:txBody>
      </p:sp>
      <p:sp>
        <p:nvSpPr>
          <p:cNvPr id="10" name="Problem icon 2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roblem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3787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182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delay compounds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late bus slows further while the bus behind catches up.</a:t>
            </a:r>
            <a:endParaRPr lang="en-US" sz="1500" dirty="0"/>
          </a:p>
        </p:txBody>
      </p:sp>
      <p:sp>
        <p:nvSpPr>
          <p:cNvPr id="14" name="Problem icon 3"/>
          <p:cNvSpPr/>
          <p:nvPr/>
        </p:nvSpPr>
        <p:spPr>
          <a:xfrm>
            <a:off x="548640" y="4572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roblem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47503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553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Bunching follows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956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Crowded buses, empty followers and long gaps between arrivals.</a:t>
            </a:r>
            <a:endParaRPr lang="en-US" sz="1500" dirty="0"/>
          </a:p>
        </p:txBody>
      </p:sp>
      <p:sp>
        <p:nvSpPr>
          <p:cNvPr id="18" name="Bunching diagram panel"/>
          <p:cNvSpPr/>
          <p:nvPr/>
        </p:nvSpPr>
        <p:spPr>
          <a:xfrm>
            <a:off x="6126480" y="182880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64008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PLANNED: even headway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0" y="3063240"/>
            <a:ext cx="4937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lanned bus 1"/>
          <p:cNvSpPr/>
          <p:nvPr/>
        </p:nvSpPr>
        <p:spPr>
          <a:xfrm>
            <a:off x="658368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58368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3" name="Planned bus 2"/>
          <p:cNvSpPr/>
          <p:nvPr/>
        </p:nvSpPr>
        <p:spPr>
          <a:xfrm>
            <a:off x="777240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777240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5" name="Planned bus 3"/>
          <p:cNvSpPr/>
          <p:nvPr/>
        </p:nvSpPr>
        <p:spPr>
          <a:xfrm>
            <a:off x="896112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896112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7" name="Planned bus 4"/>
          <p:cNvSpPr/>
          <p:nvPr/>
        </p:nvSpPr>
        <p:spPr>
          <a:xfrm>
            <a:off x="1014984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1014984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3"/>
                </a:solidFill>
              </a:rPr>
              <a:t>ACTUAL: bunching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0" y="4800600"/>
            <a:ext cx="4937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unched bus 1"/>
          <p:cNvSpPr/>
          <p:nvPr/>
        </p:nvSpPr>
        <p:spPr>
          <a:xfrm>
            <a:off x="658368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658368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Packed</a:t>
            </a:r>
            <a:endParaRPr lang="en-US" sz="1200" dirty="0"/>
          </a:p>
        </p:txBody>
      </p:sp>
      <p:sp>
        <p:nvSpPr>
          <p:cNvPr id="33" name="Bunched bus 2"/>
          <p:cNvSpPr/>
          <p:nvPr/>
        </p:nvSpPr>
        <p:spPr>
          <a:xfrm>
            <a:off x="928116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928116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Empty</a:t>
            </a:r>
            <a:endParaRPr lang="en-US" sz="1200" dirty="0"/>
          </a:p>
        </p:txBody>
      </p:sp>
      <p:sp>
        <p:nvSpPr>
          <p:cNvPr id="35" name="Bunched bus 3"/>
          <p:cNvSpPr/>
          <p:nvPr/>
        </p:nvSpPr>
        <p:spPr>
          <a:xfrm>
            <a:off x="1024128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1024128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Empty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74980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long wait for passengers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40080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Result: overcrowding, long waits and wasted fleet capacity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· DATA ENGINEERING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M Uvaram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Modeling Galle Road commute realism</a:t>
            </a:r>
            <a:endParaRPr lang="en-US" sz="3400" dirty="0"/>
          </a:p>
        </p:txBody>
      </p:sp>
      <p:sp>
        <p:nvSpPr>
          <p:cNvPr id="6" name="Outbound pill"/>
          <p:cNvSpPr/>
          <p:nvPr/>
        </p:nvSpPr>
        <p:spPr>
          <a:xfrm>
            <a:off x="548640" y="1691640"/>
            <a:ext cx="4114800" cy="365760"/>
          </a:xfrm>
          <a:prstGeom prst="roundRect">
            <a:avLst>
              <a:gd name="adj" fmla="val 3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← Evening rush: outbound to Panadura</a:t>
            </a:r>
            <a:endParaRPr lang="en-US" sz="1300" dirty="0"/>
          </a:p>
        </p:txBody>
      </p:sp>
      <p:sp>
        <p:nvSpPr>
          <p:cNvPr id="8" name="Inbound pill"/>
          <p:cNvSpPr/>
          <p:nvPr/>
        </p:nvSpPr>
        <p:spPr>
          <a:xfrm>
            <a:off x="7498080" y="1691640"/>
            <a:ext cx="4114800" cy="365760"/>
          </a:xfrm>
          <a:prstGeom prst="roundRect">
            <a:avLst>
              <a:gd name="adj" fmla="val 3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Morning rush: inbound to Pettah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468880"/>
            <a:ext cx="9601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ail stop Panadura"/>
          <p:cNvSpPr/>
          <p:nvPr/>
        </p:nvSpPr>
        <p:spPr>
          <a:xfrm>
            <a:off x="1133856" y="232257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Panadura</a:t>
            </a:r>
            <a:endParaRPr lang="en-US" sz="1200" dirty="0"/>
          </a:p>
        </p:txBody>
      </p:sp>
      <p:sp>
        <p:nvSpPr>
          <p:cNvPr id="13" name="Rail stop Moratuwa"/>
          <p:cNvSpPr/>
          <p:nvPr/>
        </p:nvSpPr>
        <p:spPr>
          <a:xfrm>
            <a:off x="25054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0116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Moratuwa</a:t>
            </a:r>
            <a:endParaRPr lang="en-US" sz="1200" dirty="0"/>
          </a:p>
        </p:txBody>
      </p:sp>
      <p:sp>
        <p:nvSpPr>
          <p:cNvPr id="15" name="Rail stop Mt. Lavinia"/>
          <p:cNvSpPr/>
          <p:nvPr/>
        </p:nvSpPr>
        <p:spPr>
          <a:xfrm>
            <a:off x="38770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832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Mt. Lavinia</a:t>
            </a:r>
            <a:endParaRPr lang="en-US" sz="1200" dirty="0"/>
          </a:p>
        </p:txBody>
      </p:sp>
      <p:sp>
        <p:nvSpPr>
          <p:cNvPr id="17" name="Rail stop Dehiwala"/>
          <p:cNvSpPr/>
          <p:nvPr/>
        </p:nvSpPr>
        <p:spPr>
          <a:xfrm>
            <a:off x="52486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Dehiwala</a:t>
            </a:r>
            <a:endParaRPr lang="en-US" sz="1200" dirty="0"/>
          </a:p>
        </p:txBody>
      </p:sp>
      <p:sp>
        <p:nvSpPr>
          <p:cNvPr id="19" name="Rail stop Wellawatta"/>
          <p:cNvSpPr/>
          <p:nvPr/>
        </p:nvSpPr>
        <p:spPr>
          <a:xfrm>
            <a:off x="66202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264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Wellawatta</a:t>
            </a:r>
            <a:endParaRPr lang="en-US" sz="1200" dirty="0"/>
          </a:p>
        </p:txBody>
      </p:sp>
      <p:sp>
        <p:nvSpPr>
          <p:cNvPr id="21" name="Rail stop Bambalapitiya"/>
          <p:cNvSpPr/>
          <p:nvPr/>
        </p:nvSpPr>
        <p:spPr>
          <a:xfrm>
            <a:off x="79918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980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Bambalapitiya</a:t>
            </a:r>
            <a:endParaRPr lang="en-US" sz="1200" dirty="0"/>
          </a:p>
        </p:txBody>
      </p:sp>
      <p:sp>
        <p:nvSpPr>
          <p:cNvPr id="23" name="Rail stop Kollupitiya"/>
          <p:cNvSpPr/>
          <p:nvPr/>
        </p:nvSpPr>
        <p:spPr>
          <a:xfrm>
            <a:off x="93634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8696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Kollupitiya</a:t>
            </a:r>
            <a:endParaRPr lang="en-US" sz="1200" dirty="0"/>
          </a:p>
        </p:txBody>
      </p:sp>
      <p:sp>
        <p:nvSpPr>
          <p:cNvPr id="25" name="Rail stop Pettah"/>
          <p:cNvSpPr/>
          <p:nvPr/>
        </p:nvSpPr>
        <p:spPr>
          <a:xfrm>
            <a:off x="10735056" y="232257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2412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Pettah</a:t>
            </a:r>
            <a:endParaRPr lang="en-US" sz="1200" dirty="0"/>
          </a:p>
        </p:txBody>
      </p:sp>
      <p:sp>
        <p:nvSpPr>
          <p:cNvPr id="27" name="Stat card 1"/>
          <p:cNvSpPr/>
          <p:nvPr/>
        </p:nvSpPr>
        <p:spPr>
          <a:xfrm>
            <a:off x="54864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tat icon 1"/>
          <p:cNvSpPr/>
          <p:nvPr/>
        </p:nvSpPr>
        <p:spPr>
          <a:xfrm>
            <a:off x="77724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Stat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781958"/>
            <a:ext cx="263347" cy="26334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7724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~800K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rows in the stratified hybrid dataset</a:t>
            </a:r>
            <a:endParaRPr lang="en-US" sz="1400" dirty="0"/>
          </a:p>
        </p:txBody>
      </p:sp>
      <p:sp>
        <p:nvSpPr>
          <p:cNvPr id="32" name="Stat card 2"/>
          <p:cNvSpPr/>
          <p:nvPr/>
        </p:nvSpPr>
        <p:spPr>
          <a:xfrm>
            <a:off x="338328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tat icon 2"/>
          <p:cNvSpPr/>
          <p:nvPr/>
        </p:nvSpPr>
        <p:spPr>
          <a:xfrm>
            <a:off x="361188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Stat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3781958"/>
            <a:ext cx="263347" cy="26334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61188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1.40×</a:t>
            </a:r>
            <a:endParaRPr lang="en-US" sz="2800" dirty="0"/>
          </a:p>
        </p:txBody>
      </p:sp>
      <p:sp>
        <p:nvSpPr>
          <p:cNvPr id="36" name="Text 32"/>
          <p:cNvSpPr txBox="1"/>
          <p:nvPr/>
        </p:nvSpPr>
        <p:spPr>
          <a:xfrm>
            <a:off x="361188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school-rush multiplier, 06:00–07:00 &amp; 13:00–14:00</a:t>
            </a:r>
            <a:endParaRPr lang="en-US" sz="1400" dirty="0"/>
          </a:p>
        </p:txBody>
      </p:sp>
      <p:sp>
        <p:nvSpPr>
          <p:cNvPr id="37" name="Stat card 3"/>
          <p:cNvSpPr/>
          <p:nvPr/>
        </p:nvSpPr>
        <p:spPr>
          <a:xfrm>
            <a:off x="621792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tat icon 3"/>
          <p:cNvSpPr/>
          <p:nvPr/>
        </p:nvSpPr>
        <p:spPr>
          <a:xfrm>
            <a:off x="644652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Stat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166" y="3781958"/>
            <a:ext cx="263347" cy="26334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44652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Sri Lanka</a:t>
            </a:r>
            <a:endParaRPr lang="en-US" sz="2800" dirty="0"/>
          </a:p>
        </p:txBody>
      </p:sp>
      <p:sp>
        <p:nvSpPr>
          <p:cNvPr id="41" name="Text 36"/>
          <p:cNvSpPr txBox="1"/>
          <p:nvPr/>
        </p:nvSpPr>
        <p:spPr>
          <a:xfrm>
            <a:off x="644652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public and bank holidays via the holidays library</a:t>
            </a:r>
            <a:endParaRPr lang="en-US" sz="1400" dirty="0"/>
          </a:p>
        </p:txBody>
      </p:sp>
      <p:sp>
        <p:nvSpPr>
          <p:cNvPr id="42" name="Stat card 4"/>
          <p:cNvSpPr/>
          <p:nvPr/>
        </p:nvSpPr>
        <p:spPr>
          <a:xfrm>
            <a:off x="905256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tat icon 4"/>
          <p:cNvSpPr/>
          <p:nvPr/>
        </p:nvSpPr>
        <p:spPr>
          <a:xfrm>
            <a:off x="928116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Stat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06" y="3781958"/>
            <a:ext cx="263347" cy="263347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28116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Monsoon + events</a:t>
            </a:r>
            <a:endParaRPr lang="en-US" sz="2000" dirty="0"/>
          </a:p>
        </p:txBody>
      </p:sp>
      <p:sp>
        <p:nvSpPr>
          <p:cNvPr id="46" name="Text 40"/>
          <p:cNvSpPr txBox="1"/>
          <p:nvPr/>
        </p:nvSpPr>
        <p:spPr>
          <a:xfrm>
            <a:off x="928116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calibrated rain effect and ~5% special-event surges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TTC Jayasinghe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PyTorch MLP architecture</a:t>
            </a:r>
            <a:endParaRPr lang="en-US" sz="3400" dirty="0"/>
          </a:p>
        </p:txBody>
      </p:sp>
      <p:sp>
        <p:nvSpPr>
          <p:cNvPr id="6" name="Layer Input"/>
          <p:cNvSpPr/>
          <p:nvPr/>
        </p:nvSpPr>
        <p:spPr>
          <a:xfrm>
            <a:off x="548640" y="17373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One-hot + MinMax scaled features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505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Layer Dense 128"/>
          <p:cNvSpPr/>
          <p:nvPr/>
        </p:nvSpPr>
        <p:spPr>
          <a:xfrm>
            <a:off x="2834640" y="19202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71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128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BatchNorm · Dropout 0.2</a:t>
            </a:r>
            <a:endParaRPr lang="en-US" sz="1400" dirty="0"/>
          </a:p>
        </p:txBody>
      </p:sp>
      <p:sp>
        <p:nvSpPr>
          <p:cNvPr id="13" name="Arrow 2"/>
          <p:cNvSpPr/>
          <p:nvPr/>
        </p:nvSpPr>
        <p:spPr>
          <a:xfrm>
            <a:off x="4791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Layer Dense 64"/>
          <p:cNvSpPr/>
          <p:nvPr/>
        </p:nvSpPr>
        <p:spPr>
          <a:xfrm>
            <a:off x="5120640" y="21031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257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64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BatchNorm · Dropout 0.2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7077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Layer Dense 32"/>
          <p:cNvSpPr/>
          <p:nvPr/>
        </p:nvSpPr>
        <p:spPr>
          <a:xfrm>
            <a:off x="7406640" y="2286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43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32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ReLU hidden layer</a:t>
            </a:r>
            <a:endParaRPr lang="en-US" sz="1400" dirty="0"/>
          </a:p>
        </p:txBody>
      </p:sp>
      <p:sp>
        <p:nvSpPr>
          <p:cNvPr id="21" name="Arrow 4"/>
          <p:cNvSpPr/>
          <p:nvPr/>
        </p:nvSpPr>
        <p:spPr>
          <a:xfrm>
            <a:off x="9363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Layer Output"/>
          <p:cNvSpPr/>
          <p:nvPr/>
        </p:nvSpPr>
        <p:spPr>
          <a:xfrm>
            <a:off x="9692640" y="242316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829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Output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Predicted passengers per stop</a:t>
            </a:r>
            <a:endParaRPr lang="en-US" sz="1400" dirty="0"/>
          </a:p>
        </p:txBody>
      </p:sp>
      <p:sp>
        <p:nvSpPr>
          <p:cNvPr id="25" name="Training icon 1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Training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3468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28016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Huber loss (Smooth L1)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Robust to extreme passenger surges.</a:t>
            </a:r>
            <a:endParaRPr lang="en-US" sz="1400" dirty="0"/>
          </a:p>
        </p:txBody>
      </p:sp>
      <p:sp>
        <p:nvSpPr>
          <p:cNvPr id="29" name="Training icon 2"/>
          <p:cNvSpPr/>
          <p:nvPr/>
        </p:nvSpPr>
        <p:spPr>
          <a:xfrm>
            <a:off x="429768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Training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5034686"/>
            <a:ext cx="263347" cy="263347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02920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Adam, lr = 0.001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502920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With early stopping to avoid overfitting.</a:t>
            </a:r>
            <a:endParaRPr lang="en-US" sz="1400" dirty="0"/>
          </a:p>
        </p:txBody>
      </p:sp>
      <p:sp>
        <p:nvSpPr>
          <p:cNvPr id="33" name="Training icon 3"/>
          <p:cNvSpPr/>
          <p:nvPr/>
        </p:nvSpPr>
        <p:spPr>
          <a:xfrm>
            <a:off x="804672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Training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66" y="5034686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BatchNorm + Dropout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877824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 training and better generalisation.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TTC Jayasinghe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Leakage-proof data pipeline</a:t>
            </a:r>
            <a:endParaRPr lang="en-US" sz="3400" dirty="0"/>
          </a:p>
        </p:txBody>
      </p:sp>
      <p:sp>
        <p:nvSpPr>
          <p:cNvPr id="6" name="Train split"/>
          <p:cNvSpPr/>
          <p:nvPr/>
        </p:nvSpPr>
        <p:spPr>
          <a:xfrm>
            <a:off x="548640" y="1828800"/>
            <a:ext cx="885139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8851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Train · 80%</a:t>
            </a:r>
            <a:endParaRPr lang="en-US" sz="2200" dirty="0"/>
          </a:p>
        </p:txBody>
      </p:sp>
      <p:sp>
        <p:nvSpPr>
          <p:cNvPr id="8" name="Test split"/>
          <p:cNvSpPr/>
          <p:nvPr/>
        </p:nvSpPr>
        <p:spPr>
          <a:xfrm>
            <a:off x="9400032" y="1828800"/>
            <a:ext cx="2212848" cy="868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400032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Test · 20%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Oldest dates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4"/>
                </a:solidFill>
              </a:rPr>
              <a:t>Newest dates</a:t>
            </a:r>
            <a:endParaRPr lang="en-US" sz="1200" dirty="0"/>
          </a:p>
        </p:txBody>
      </p:sp>
      <p:sp>
        <p:nvSpPr>
          <p:cNvPr id="12" name="Pipeline card 1"/>
          <p:cNvSpPr/>
          <p:nvPr/>
        </p:nvSpPr>
        <p:spPr>
          <a:xfrm>
            <a:off x="54864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ipeline icon 1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ipelin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869741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Time-based split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Split strictly on date so the model never sees the future during training.</a:t>
            </a:r>
            <a:endParaRPr lang="en-US" sz="1400" dirty="0"/>
          </a:p>
        </p:txBody>
      </p:sp>
      <p:sp>
        <p:nvSpPr>
          <p:cNvPr id="17" name="Pipeline card 2"/>
          <p:cNvSpPr/>
          <p:nvPr/>
        </p:nvSpPr>
        <p:spPr>
          <a:xfrm>
            <a:off x="429768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Pipeline icon 2"/>
          <p:cNvSpPr/>
          <p:nvPr/>
        </p:nvSpPr>
        <p:spPr>
          <a:xfrm>
            <a:off x="457200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pelin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386974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Fit on train only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OneHotEncoder and MinMaxScaler learn from the training partition alone.</a:t>
            </a:r>
            <a:endParaRPr lang="en-US" sz="1400" dirty="0"/>
          </a:p>
        </p:txBody>
      </p:sp>
      <p:sp>
        <p:nvSpPr>
          <p:cNvPr id="22" name="Pipeline card 3"/>
          <p:cNvSpPr/>
          <p:nvPr/>
        </p:nvSpPr>
        <p:spPr>
          <a:xfrm>
            <a:off x="804672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ipeline icon 3"/>
          <p:cNvSpPr/>
          <p:nvPr/>
        </p:nvSpPr>
        <p:spPr>
          <a:xfrm>
            <a:off x="832104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pelin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386974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210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Export artifacts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demand_predictor.pth, preprocessor.pkl and metrics.json for the API.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TTC Jayasinghe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 evaluation across slices</a:t>
            </a:r>
            <a:endParaRPr lang="en-US" sz="3400" dirty="0"/>
          </a:p>
        </p:txBody>
      </p:sp>
      <p:sp>
        <p:nvSpPr>
          <p:cNvPr id="6" name="Metric card MAE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MAE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—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Average absolute error in passengers</a:t>
            </a:r>
            <a:endParaRPr lang="en-US" sz="1300" dirty="0"/>
          </a:p>
        </p:txBody>
      </p:sp>
      <p:sp>
        <p:nvSpPr>
          <p:cNvPr id="10" name="Metric card RMSE"/>
          <p:cNvSpPr/>
          <p:nvPr/>
        </p:nvSpPr>
        <p:spPr>
          <a:xfrm>
            <a:off x="429768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RMSE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—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Penalises large misses more heavily</a:t>
            </a:r>
            <a:endParaRPr lang="en-US" sz="1300" dirty="0"/>
          </a:p>
        </p:txBody>
      </p:sp>
      <p:sp>
        <p:nvSpPr>
          <p:cNvPr id="14" name="Metric card R²"/>
          <p:cNvSpPr/>
          <p:nvPr/>
        </p:nvSpPr>
        <p:spPr>
          <a:xfrm>
            <a:off x="804672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R²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—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Share of demand variance explained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Accuracy is reported across slices from metrics.json</a:t>
            </a:r>
            <a:endParaRPr lang="en-US" sz="1600" dirty="0"/>
          </a:p>
        </p:txBody>
      </p:sp>
      <p:sp>
        <p:nvSpPr>
          <p:cNvPr id="19" name="Slice card 1"/>
          <p:cNvSpPr/>
          <p:nvPr/>
        </p:nvSpPr>
        <p:spPr>
          <a:xfrm>
            <a:off x="54864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lice icon 1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Slic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80608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Stops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Galle Road hubs</a:t>
            </a:r>
            <a:endParaRPr lang="en-US" sz="1400" dirty="0"/>
          </a:p>
        </p:txBody>
      </p:sp>
      <p:sp>
        <p:nvSpPr>
          <p:cNvPr id="24" name="Slice card 2"/>
          <p:cNvSpPr/>
          <p:nvPr/>
        </p:nvSpPr>
        <p:spPr>
          <a:xfrm>
            <a:off x="338328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lice icon 2"/>
          <p:cNvSpPr/>
          <p:nvPr/>
        </p:nvSpPr>
        <p:spPr>
          <a:xfrm>
            <a:off x="361188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Slic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4806086"/>
            <a:ext cx="263347" cy="26334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Peak vs off-peak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61188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Rush-hour consistency</a:t>
            </a:r>
            <a:endParaRPr lang="en-US" sz="1400" dirty="0"/>
          </a:p>
        </p:txBody>
      </p:sp>
      <p:sp>
        <p:nvSpPr>
          <p:cNvPr id="29" name="Slice card 3"/>
          <p:cNvSpPr/>
          <p:nvPr/>
        </p:nvSpPr>
        <p:spPr>
          <a:xfrm>
            <a:off x="621792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lice icon 3"/>
          <p:cNvSpPr/>
          <p:nvPr/>
        </p:nvSpPr>
        <p:spPr>
          <a:xfrm>
            <a:off x="64465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Slic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166" y="4806086"/>
            <a:ext cx="263347" cy="26334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13232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Rainy vs clear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44652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Weather robustness</a:t>
            </a:r>
            <a:endParaRPr lang="en-US" sz="1400" dirty="0"/>
          </a:p>
        </p:txBody>
      </p:sp>
      <p:sp>
        <p:nvSpPr>
          <p:cNvPr id="34" name="Slice card 4"/>
          <p:cNvSpPr/>
          <p:nvPr/>
        </p:nvSpPr>
        <p:spPr>
          <a:xfrm>
            <a:off x="905256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lice icon 4"/>
          <p:cNvSpPr/>
          <p:nvPr/>
        </p:nvSpPr>
        <p:spPr>
          <a:xfrm>
            <a:off x="928116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Slice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06" y="4806086"/>
            <a:ext cx="263347" cy="26334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96696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Holiday vs normal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928116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Calendar effects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DISPATCH OPTIMIZATION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predictions to dispatch headway</a:t>
            </a:r>
            <a:endParaRPr lang="en-US" sz="3400" dirty="0"/>
          </a:p>
        </p:txBody>
      </p:sp>
      <p:sp>
        <p:nvSpPr>
          <p:cNvPr id="6" name="Formula card 1"/>
          <p:cNvSpPr/>
          <p:nvPr/>
        </p:nvSpPr>
        <p:spPr>
          <a:xfrm>
            <a:off x="54864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 the bottleneck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= max(predictions)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predicted stop demand sets the pace.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86784" y="3081528"/>
            <a:ext cx="347472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Formula card 2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Size the fleet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5488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buses = max(1,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ceil(peak / 80))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bus carries 80 passengers.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27264" y="3081528"/>
            <a:ext cx="347472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ormula card 3"/>
          <p:cNvSpPr/>
          <p:nvPr/>
        </p:nvSpPr>
        <p:spPr>
          <a:xfrm>
            <a:off x="822960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 the headway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0392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59536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headway = clamp(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round(60 / buses),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3, 30)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Kept between 3 and 30 minutes.</a:t>
            </a:r>
            <a:endParaRPr lang="en-US" sz="1400" dirty="0"/>
          </a:p>
        </p:txBody>
      </p:sp>
      <p:sp>
        <p:nvSpPr>
          <p:cNvPr id="29" name="Worked example band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Example icon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Example ic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5309006"/>
            <a:ext cx="263347" cy="26334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4592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645920" y="5349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Peak 400 pax  →  ceil(400 / 80) = 5 buses  →  round(60 / 5) = 12 min headway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DISPATCH OPTIMIZATION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Congestion-aware corridor ETA</a:t>
            </a:r>
            <a:endParaRPr lang="en-US" sz="3400" dirty="0"/>
          </a:p>
        </p:txBody>
      </p:sp>
      <p:sp>
        <p:nvSpPr>
          <p:cNvPr id="6" name="ETA term 1"/>
          <p:cNvSpPr/>
          <p:nvPr/>
        </p:nvSpPr>
        <p:spPr>
          <a:xfrm>
            <a:off x="59436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ETA icon 1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ETA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2119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Baseline travel time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Free-flow time for the corridor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×</a:t>
            </a:r>
            <a:endParaRPr lang="en-US" sz="3600" dirty="0"/>
          </a:p>
        </p:txBody>
      </p:sp>
      <p:sp>
        <p:nvSpPr>
          <p:cNvPr id="12" name="ETA term 2"/>
          <p:cNvSpPr/>
          <p:nvPr/>
        </p:nvSpPr>
        <p:spPr>
          <a:xfrm>
            <a:off x="352044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ETA icon 2"/>
          <p:cNvSpPr/>
          <p:nvPr/>
        </p:nvSpPr>
        <p:spPr>
          <a:xfrm>
            <a:off x="379476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ETA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294" y="221193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947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Peak congestion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79476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Multiplier applied in rush hours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62356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+</a:t>
            </a:r>
            <a:endParaRPr lang="en-US" sz="3600" dirty="0"/>
          </a:p>
        </p:txBody>
      </p:sp>
      <p:sp>
        <p:nvSpPr>
          <p:cNvPr id="18" name="ETA term 3"/>
          <p:cNvSpPr/>
          <p:nvPr/>
        </p:nvSpPr>
        <p:spPr>
          <a:xfrm>
            <a:off x="644652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ETA icon 3"/>
          <p:cNvSpPr/>
          <p:nvPr/>
        </p:nvSpPr>
        <p:spPr>
          <a:xfrm>
            <a:off x="672084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ETA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374" y="221193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Dwell delay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7208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0.05 × predicted passengers per stop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=</a:t>
            </a:r>
            <a:endParaRPr lang="en-US" sz="3600" dirty="0"/>
          </a:p>
        </p:txBody>
      </p:sp>
      <p:sp>
        <p:nvSpPr>
          <p:cNvPr id="24" name="ETA term 4"/>
          <p:cNvSpPr/>
          <p:nvPr/>
        </p:nvSpPr>
        <p:spPr>
          <a:xfrm>
            <a:off x="937260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ETA icon 4"/>
          <p:cNvSpPr/>
          <p:nvPr/>
        </p:nvSpPr>
        <p:spPr>
          <a:xfrm>
            <a:off x="964692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ETA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454" y="221193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469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Corridor ETA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64692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Realistic end-to-end travel time</a:t>
            </a:r>
            <a:endParaRPr lang="en-US" sz="1200" dirty="0"/>
          </a:p>
        </p:txBody>
      </p:sp>
      <p:sp>
        <p:nvSpPr>
          <p:cNvPr id="29" name="ETA note 1"/>
          <p:cNvSpPr/>
          <p:nvPr/>
        </p:nvSpPr>
        <p:spPr>
          <a:xfrm>
            <a:off x="548640" y="43434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8229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Depot staff see a realistic travel time that reflects traffic and load, not a static timetable.</a:t>
            </a:r>
            <a:endParaRPr lang="en-US" sz="1400" dirty="0"/>
          </a:p>
        </p:txBody>
      </p:sp>
      <p:sp>
        <p:nvSpPr>
          <p:cNvPr id="32" name="ETA note 2"/>
          <p:cNvSpPr/>
          <p:nvPr/>
        </p:nvSpPr>
        <p:spPr>
          <a:xfrm>
            <a:off x="6172200" y="43434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44652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Load-aware dwell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Busier stops add more dwell time, so predicted demand directly lengthens the corridor ETA.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BACKEND SERVICES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FastAPI backend with calendar enrichment</a:t>
            </a:r>
            <a:endParaRPr lang="en-US" sz="3400" dirty="0"/>
          </a:p>
        </p:txBody>
      </p:sp>
      <p:sp>
        <p:nvSpPr>
          <p:cNvPr id="6" name="Flow step 1"/>
          <p:cNvSpPr/>
          <p:nvPr/>
        </p:nvSpPr>
        <p:spPr>
          <a:xfrm>
            <a:off x="548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low icon 1"/>
          <p:cNvSpPr/>
          <p:nvPr/>
        </p:nvSpPr>
        <p:spPr>
          <a:xfrm>
            <a:off x="1188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Flow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66" y="21543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Next.js dashboard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Sends date, time, direction, scenario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Flow step 2"/>
          <p:cNvSpPr/>
          <p:nvPr/>
        </p:nvSpPr>
        <p:spPr>
          <a:xfrm>
            <a:off x="2834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Flow icon 2"/>
          <p:cNvSpPr/>
          <p:nvPr/>
        </p:nvSpPr>
        <p:spPr>
          <a:xfrm>
            <a:off x="3474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Flow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21543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main.py REST service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Flow step 3"/>
          <p:cNvSpPr/>
          <p:nvPr/>
        </p:nvSpPr>
        <p:spPr>
          <a:xfrm>
            <a:off x="5120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Flow icon 3"/>
          <p:cNvSpPr/>
          <p:nvPr/>
        </p:nvSpPr>
        <p:spPr>
          <a:xfrm>
            <a:off x="5760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Flow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215432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2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enrich_calendar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Day of week, school rush, LK holiday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995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Flow step 4"/>
          <p:cNvSpPr/>
          <p:nvPr/>
        </p:nvSpPr>
        <p:spPr>
          <a:xfrm>
            <a:off x="7406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Flow icon 4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Flow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9366" y="2154326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98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PyTorch model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preprocessor.pkl + demand_predictor.pth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281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Flow step 5"/>
          <p:cNvSpPr/>
          <p:nvPr/>
        </p:nvSpPr>
        <p:spPr>
          <a:xfrm>
            <a:off x="9692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Flow icon 5"/>
          <p:cNvSpPr/>
          <p:nvPr/>
        </p:nvSpPr>
        <p:spPr>
          <a:xfrm>
            <a:off x="10332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Flow icon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366" y="2154326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84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dispatch.py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9784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Headway and ETA</a:t>
            </a:r>
            <a:endParaRPr lang="en-US" sz="1200" dirty="0"/>
          </a:p>
        </p:txBody>
      </p:sp>
      <p:sp>
        <p:nvSpPr>
          <p:cNvPr id="35" name="Endpoint card /predict"/>
          <p:cNvSpPr/>
          <p:nvPr/>
        </p:nvSpPr>
        <p:spPr>
          <a:xfrm>
            <a:off x="54864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8229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Stop demand, recommended headway and ETA for a given date and time.</a:t>
            </a:r>
            <a:endParaRPr lang="en-US" sz="1400" dirty="0"/>
          </a:p>
        </p:txBody>
      </p:sp>
      <p:sp>
        <p:nvSpPr>
          <p:cNvPr id="38" name="Endpoint card /metrics"/>
          <p:cNvSpPr/>
          <p:nvPr/>
        </p:nvSpPr>
        <p:spPr>
          <a:xfrm>
            <a:off x="429768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45720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Serves the model evaluation results from metrics.json.</a:t>
            </a:r>
            <a:endParaRPr lang="en-US" sz="1400" dirty="0"/>
          </a:p>
        </p:txBody>
      </p:sp>
      <p:sp>
        <p:nvSpPr>
          <p:cNvPr id="41" name="Endpoint card /health"/>
          <p:cNvSpPr/>
          <p:nvPr/>
        </p:nvSpPr>
        <p:spPr>
          <a:xfrm>
            <a:off x="804672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83210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2000" dirty="0"/>
          </a:p>
        </p:txBody>
      </p:sp>
      <p:sp>
        <p:nvSpPr>
          <p:cNvPr id="43" name="Text 36"/>
          <p:cNvSpPr txBox="1"/>
          <p:nvPr/>
        </p:nvSpPr>
        <p:spPr>
          <a:xfrm>
            <a:off x="832104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Quick service status check for the dashboard and demos.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4 · DECISION SUPPORT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JGJB Gamage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Depot manager dashboard</a:t>
            </a:r>
            <a:endParaRPr lang="en-US" sz="3400" dirty="0"/>
          </a:p>
        </p:txBody>
      </p:sp>
      <p:sp>
        <p:nvSpPr>
          <p:cNvPr id="6" name="Dashboard mockup panel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KPI tile 1"/>
          <p:cNvSpPr/>
          <p:nvPr/>
        </p:nvSpPr>
        <p:spPr>
          <a:xfrm>
            <a:off x="704088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HEADWAY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4 min</a:t>
            </a:r>
            <a:endParaRPr lang="en-US" sz="1800" dirty="0"/>
          </a:p>
        </p:txBody>
      </p:sp>
      <p:sp>
        <p:nvSpPr>
          <p:cNvPr id="10" name="KPI tile 2"/>
          <p:cNvSpPr/>
          <p:nvPr/>
        </p:nvSpPr>
        <p:spPr>
          <a:xfrm>
            <a:off x="2468880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CORRIDOR ETA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58 min</a:t>
            </a:r>
            <a:endParaRPr lang="en-US" sz="1800" dirty="0"/>
          </a:p>
        </p:txBody>
      </p:sp>
      <p:sp>
        <p:nvSpPr>
          <p:cNvPr id="13" name="KPI tile 3"/>
          <p:cNvSpPr/>
          <p:nvPr/>
        </p:nvSpPr>
        <p:spPr>
          <a:xfrm>
            <a:off x="4233672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70832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BOTTLENECK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Wellawatta</a:t>
            </a:r>
            <a:endParaRPr lang="en-US" sz="1800" dirty="0"/>
          </a:p>
        </p:txBody>
      </p:sp>
      <p:sp>
        <p:nvSpPr>
          <p:cNvPr id="16" name="KPI tile 4"/>
          <p:cNvSpPr/>
          <p:nvPr/>
        </p:nvSpPr>
        <p:spPr>
          <a:xfrm>
            <a:off x="5998464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135624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TOTAL PAX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35624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1,840</a:t>
            </a:r>
            <a:endParaRPr lang="en-US" sz="1800" dirty="0"/>
          </a:p>
        </p:txBody>
      </p:sp>
      <p:sp>
        <p:nvSpPr>
          <p:cNvPr id="19" name="Corridor rail mock"/>
          <p:cNvSpPr/>
          <p:nvPr/>
        </p:nvSpPr>
        <p:spPr>
          <a:xfrm>
            <a:off x="704088" y="3108960"/>
            <a:ext cx="692200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8696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Corridor rail</a:t>
            </a:r>
            <a:endParaRPr lang="en-US" sz="1200" dirty="0"/>
          </a:p>
        </p:txBody>
      </p:sp>
      <p:sp>
        <p:nvSpPr>
          <p:cNvPr id="21" name="Load bar PAN"/>
          <p:cNvSpPr/>
          <p:nvPr/>
        </p:nvSpPr>
        <p:spPr>
          <a:xfrm>
            <a:off x="1014984" y="4617720"/>
            <a:ext cx="50292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6968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PAN</a:t>
            </a:r>
            <a:endParaRPr lang="en-US" sz="1100" dirty="0"/>
          </a:p>
        </p:txBody>
      </p:sp>
      <p:sp>
        <p:nvSpPr>
          <p:cNvPr id="23" name="Load bar MOR"/>
          <p:cNvSpPr/>
          <p:nvPr/>
        </p:nvSpPr>
        <p:spPr>
          <a:xfrm>
            <a:off x="1834286" y="4343400"/>
            <a:ext cx="50292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706270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MOR</a:t>
            </a:r>
            <a:endParaRPr lang="en-US" sz="1100" dirty="0"/>
          </a:p>
        </p:txBody>
      </p:sp>
      <p:sp>
        <p:nvSpPr>
          <p:cNvPr id="25" name="Load bar MTL"/>
          <p:cNvSpPr/>
          <p:nvPr/>
        </p:nvSpPr>
        <p:spPr>
          <a:xfrm>
            <a:off x="2653589" y="4114800"/>
            <a:ext cx="502920" cy="10515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525573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MTL</a:t>
            </a:r>
            <a:endParaRPr lang="en-US" sz="1100" dirty="0"/>
          </a:p>
        </p:txBody>
      </p:sp>
      <p:sp>
        <p:nvSpPr>
          <p:cNvPr id="27" name="Load bar DEH"/>
          <p:cNvSpPr/>
          <p:nvPr/>
        </p:nvSpPr>
        <p:spPr>
          <a:xfrm>
            <a:off x="3472891" y="3931920"/>
            <a:ext cx="502920" cy="1234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344875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DEH</a:t>
            </a:r>
            <a:endParaRPr lang="en-US" sz="1100" dirty="0"/>
          </a:p>
        </p:txBody>
      </p:sp>
      <p:sp>
        <p:nvSpPr>
          <p:cNvPr id="29" name="Load bar WEL"/>
          <p:cNvSpPr/>
          <p:nvPr/>
        </p:nvSpPr>
        <p:spPr>
          <a:xfrm>
            <a:off x="4292194" y="3611880"/>
            <a:ext cx="502920" cy="15544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164178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WEL</a:t>
            </a:r>
            <a:endParaRPr lang="en-US" sz="1100" dirty="0"/>
          </a:p>
        </p:txBody>
      </p:sp>
      <p:sp>
        <p:nvSpPr>
          <p:cNvPr id="31" name="Load bar BAM"/>
          <p:cNvSpPr/>
          <p:nvPr/>
        </p:nvSpPr>
        <p:spPr>
          <a:xfrm>
            <a:off x="5111496" y="3886200"/>
            <a:ext cx="502920" cy="12801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BAM</a:t>
            </a:r>
            <a:endParaRPr lang="en-US" sz="1100" dirty="0"/>
          </a:p>
        </p:txBody>
      </p:sp>
      <p:sp>
        <p:nvSpPr>
          <p:cNvPr id="33" name="Load bar KOL"/>
          <p:cNvSpPr/>
          <p:nvPr/>
        </p:nvSpPr>
        <p:spPr>
          <a:xfrm>
            <a:off x="5930798" y="4251960"/>
            <a:ext cx="50292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802782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KOL</a:t>
            </a:r>
            <a:endParaRPr lang="en-US" sz="1100" dirty="0"/>
          </a:p>
        </p:txBody>
      </p:sp>
      <p:sp>
        <p:nvSpPr>
          <p:cNvPr id="35" name="Load bar PET"/>
          <p:cNvSpPr/>
          <p:nvPr/>
        </p:nvSpPr>
        <p:spPr>
          <a:xfrm>
            <a:off x="6750101" y="4434840"/>
            <a:ext cx="5029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622085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PET</a:t>
            </a:r>
            <a:endParaRPr lang="en-US" sz="1100" dirty="0"/>
          </a:p>
        </p:txBody>
      </p:sp>
      <p:sp>
        <p:nvSpPr>
          <p:cNvPr id="37" name="High demand badge"/>
          <p:cNvSpPr/>
          <p:nvPr/>
        </p:nvSpPr>
        <p:spPr>
          <a:xfrm>
            <a:off x="3794760" y="329184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79476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High demand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layout</a:t>
            </a:r>
            <a:endParaRPr lang="en-US" sz="1000" dirty="0"/>
          </a:p>
        </p:txBody>
      </p:sp>
      <p:sp>
        <p:nvSpPr>
          <p:cNvPr id="40" name="Feature icon 1"/>
          <p:cNvSpPr/>
          <p:nvPr/>
        </p:nvSpPr>
        <p:spPr>
          <a:xfrm>
            <a:off x="813816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Featur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694" y="1983334"/>
            <a:ext cx="285293" cy="285293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91540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KPI panel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8915400" y="21762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Headway, corridor ETA, bottleneck stop and total passengers at a glance.</a:t>
            </a:r>
            <a:endParaRPr lang="en-US" sz="1400" dirty="0"/>
          </a:p>
        </p:txBody>
      </p:sp>
      <p:sp>
        <p:nvSpPr>
          <p:cNvPr id="44" name="Feature icon 2"/>
          <p:cNvSpPr/>
          <p:nvPr/>
        </p:nvSpPr>
        <p:spPr>
          <a:xfrm>
            <a:off x="8138160" y="3291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Featur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694" y="3446374"/>
            <a:ext cx="285293" cy="285293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891540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Corridor rail</a:t>
            </a:r>
            <a:endParaRPr lang="en-US" sz="1700" dirty="0"/>
          </a:p>
        </p:txBody>
      </p:sp>
      <p:sp>
        <p:nvSpPr>
          <p:cNvPr id="47" name="Text 43"/>
          <p:cNvSpPr txBox="1"/>
          <p:nvPr/>
        </p:nvSpPr>
        <p:spPr>
          <a:xfrm>
            <a:off x="8915400" y="36393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8 stops with live load bars, counts and high-demand badges.</a:t>
            </a:r>
            <a:endParaRPr lang="en-US" sz="1400" dirty="0"/>
          </a:p>
        </p:txBody>
      </p:sp>
      <p:sp>
        <p:nvSpPr>
          <p:cNvPr id="48" name="Feature icon 3"/>
          <p:cNvSpPr/>
          <p:nvPr/>
        </p:nvSpPr>
        <p:spPr>
          <a:xfrm>
            <a:off x="8138160" y="4754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Featur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694" y="4909414"/>
            <a:ext cx="285293" cy="285293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915400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Scenario controls</a:t>
            </a:r>
            <a:endParaRPr lang="en-US" sz="1700" dirty="0"/>
          </a:p>
        </p:txBody>
      </p:sp>
      <p:sp>
        <p:nvSpPr>
          <p:cNvPr id="51" name="Text 46"/>
          <p:cNvSpPr txBox="1"/>
          <p:nvPr/>
        </p:nvSpPr>
        <p:spPr>
          <a:xfrm>
            <a:off x="8915400" y="51023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Rain, school vacation, holiday and event rush, plus live Open-Meteo weather.</a:t>
            </a:r>
            <a:endParaRPr lang="en-US" sz="14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PART 4 · LIVE DEMONSTRATION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Presenter · M </a:t>
            </a:r>
            <a:r>
              <a:rPr lang="en-US" sz="1100" b="1" dirty="0" err="1">
                <a:solidFill>
                  <a:schemeClr val="bg1"/>
                </a:solidFill>
              </a:rPr>
              <a:t>Uvaram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Live demonstration</a:t>
            </a:r>
            <a:endParaRPr lang="en-US" sz="3400" dirty="0"/>
          </a:p>
        </p:txBody>
      </p:sp>
      <p:sp>
        <p:nvSpPr>
          <p:cNvPr id="6" name="URL chip"/>
          <p:cNvSpPr/>
          <p:nvPr/>
        </p:nvSpPr>
        <p:spPr>
          <a:xfrm>
            <a:off x="548640" y="1600200"/>
            <a:ext cx="384048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Dashboard: http://localhost:3000</a:t>
            </a:r>
            <a:endParaRPr lang="en-US" sz="1300" dirty="0"/>
          </a:p>
        </p:txBody>
      </p:sp>
      <p:sp>
        <p:nvSpPr>
          <p:cNvPr id="8" name="Demo card 1"/>
          <p:cNvSpPr/>
          <p:nvPr/>
        </p:nvSpPr>
        <p:spPr>
          <a:xfrm>
            <a:off x="5486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Off-peak midday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Low demand along the corridor.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15–20 min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longer headway</a:t>
            </a:r>
            <a:endParaRPr lang="en-US" sz="1200" dirty="0"/>
          </a:p>
        </p:txBody>
      </p:sp>
      <p:sp>
        <p:nvSpPr>
          <p:cNvPr id="15" name="Demo card 2"/>
          <p:cNvSpPr/>
          <p:nvPr/>
        </p:nvSpPr>
        <p:spPr>
          <a:xfrm>
            <a:off x="429768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Morning peak, 07:30 inbound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Headway tightens and bottleneck stops are highlighted.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3–5 min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tighter headway</a:t>
            </a:r>
            <a:endParaRPr lang="en-US" sz="1200" dirty="0"/>
          </a:p>
        </p:txBody>
      </p:sp>
      <p:sp>
        <p:nvSpPr>
          <p:cNvPr id="22" name="Demo card 3"/>
          <p:cNvSpPr/>
          <p:nvPr/>
        </p:nvSpPr>
        <p:spPr>
          <a:xfrm>
            <a:off x="804672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21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Toggle rain or school rush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Dispatch headway and ETA respond instantly.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Live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instant update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4 · CONCLUSION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JGJB Gamage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Impact, scalability and future work</a:t>
            </a:r>
            <a:endParaRPr lang="en-US" sz="3400" dirty="0"/>
          </a:p>
        </p:txBody>
      </p:sp>
      <p:sp>
        <p:nvSpPr>
          <p:cNvPr id="6" name="Impact card 1"/>
          <p:cNvSpPr/>
          <p:nvPr/>
        </p:nvSpPr>
        <p:spPr>
          <a:xfrm>
            <a:off x="54864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Impact icon 1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pact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2933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Operational impact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Removes guesswork for depot masters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Reduces passenger waiting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Matches fleet to predicted demand</a:t>
            </a:r>
            <a:endParaRPr lang="en-US" sz="1600" dirty="0"/>
          </a:p>
        </p:txBody>
      </p:sp>
      <p:sp>
        <p:nvSpPr>
          <p:cNvPr id="11" name="Impact card 2"/>
          <p:cNvSpPr/>
          <p:nvPr/>
        </p:nvSpPr>
        <p:spPr>
          <a:xfrm>
            <a:off x="429768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Impact icon 2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pact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22933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Scalability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611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to Routes 120, 138 and 177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Reusable data and training pipeline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API and dashboard design</a:t>
            </a:r>
            <a:endParaRPr lang="en-US" sz="1600" dirty="0"/>
          </a:p>
        </p:txBody>
      </p:sp>
      <p:sp>
        <p:nvSpPr>
          <p:cNvPr id="16" name="Impact card 3"/>
          <p:cNvSpPr/>
          <p:nvPr/>
        </p:nvSpPr>
        <p:spPr>
          <a:xfrm>
            <a:off x="804672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Impact icon 3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pact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Future work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611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ticketing and GPS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Periodic model retraining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Multi-route fleet balancing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61488"/>
            <a:ext cx="6949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AI-Powered Dynamic Public Transport Fleet Optimizer (Route 100)  ·  Group 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0" cy="3291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mber dot 1"/>
          <p:cNvSpPr/>
          <p:nvPr/>
        </p:nvSpPr>
        <p:spPr>
          <a:xfrm>
            <a:off x="7095744" y="1335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 Uvaram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D/BSE/25/0012  ·  Software Engineering</a:t>
            </a:r>
            <a:endParaRPr lang="en-US" sz="1200" dirty="0"/>
          </a:p>
        </p:txBody>
      </p:sp>
      <p:sp>
        <p:nvSpPr>
          <p:cNvPr id="9" name="Member dot 2"/>
          <p:cNvSpPr/>
          <p:nvPr/>
        </p:nvSpPr>
        <p:spPr>
          <a:xfrm>
            <a:off x="7095744" y="243230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8952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TTC Jayasinghe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761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D/DBA/25/0016  ·  Data Science &amp; Business Analytics</a:t>
            </a:r>
            <a:endParaRPr lang="en-US" sz="1200" dirty="0"/>
          </a:p>
        </p:txBody>
      </p:sp>
      <p:sp>
        <p:nvSpPr>
          <p:cNvPr id="12" name="Member dot 3"/>
          <p:cNvSpPr/>
          <p:nvPr/>
        </p:nvSpPr>
        <p:spPr>
          <a:xfrm>
            <a:off x="7095744" y="352958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5895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SNMRDS Arambepola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D/BIT/24/0039  ·  Information Technology</a:t>
            </a:r>
            <a:endParaRPr lang="en-US" sz="1200" dirty="0"/>
          </a:p>
        </p:txBody>
      </p:sp>
      <p:sp>
        <p:nvSpPr>
          <p:cNvPr id="15" name="Member dot 4"/>
          <p:cNvSpPr/>
          <p:nvPr/>
        </p:nvSpPr>
        <p:spPr>
          <a:xfrm>
            <a:off x="7095744" y="462686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58952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JGJB Gamage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956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D/BIT/24/0056  ·  Information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100">
  <a:themeElements>
    <a:clrScheme name="Route100">
      <a:dk1>
        <a:srgbClr val="13222E"/>
      </a:dk1>
      <a:lt1>
        <a:srgbClr val="FFFFFF"/>
      </a:lt1>
      <a:dk2>
        <a:srgbClr val="0B2545"/>
      </a:dk2>
      <a:lt2>
        <a:srgbClr val="EAF2F7"/>
      </a:lt2>
      <a:accent1>
        <a:srgbClr val="0B8A80"/>
      </a:accent1>
      <a:accent2>
        <a:srgbClr val="F2A900"/>
      </a:accent2>
      <a:accent3>
        <a:srgbClr val="D9482B"/>
      </a:accent3>
      <a:accent4>
        <a:srgbClr val="5B6B7A"/>
      </a:accent4>
      <a:accent5>
        <a:srgbClr val="8DB3D1"/>
      </a:accent5>
      <a:accent6>
        <a:srgbClr val="2E7D4F"/>
      </a:accent6>
      <a:hlink>
        <a:srgbClr val="0B8A80"/>
      </a:hlink>
      <a:folHlink>
        <a:srgbClr val="5B6B7A"/>
      </a:folHlink>
    </a:clrScheme>
    <a:fontScheme name="Route10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1553</Words>
  <Application>Microsoft Office PowerPoint</Application>
  <PresentationFormat>Widescreen</PresentationFormat>
  <Paragraphs>291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Route100</vt:lpstr>
      <vt:lpstr>AI-Powered Dynamic Public Transport Fleet Optimizer (Route 100)</vt:lpstr>
      <vt:lpstr>Group 40</vt:lpstr>
      <vt:lpstr>Static schedules cause bus bunching</vt:lpstr>
      <vt:lpstr>Modeling Galle Road commute realism</vt:lpstr>
      <vt:lpstr>PyTorch MLP architecture</vt:lpstr>
      <vt:lpstr>Leakage-proof data pipeline</vt:lpstr>
      <vt:lpstr>Model evaluation across slices</vt:lpstr>
      <vt:lpstr>From predictions to dispatch headway</vt:lpstr>
      <vt:lpstr>Congestion-aware corridor ETA</vt:lpstr>
      <vt:lpstr>FastAPI backend with calendar enrichment</vt:lpstr>
      <vt:lpstr>Depot manager dashboard</vt:lpstr>
      <vt:lpstr>Live demonstration</vt:lpstr>
      <vt:lpstr>Impact, scalability and future work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Dynamic Public Transport Fleet Optimizer (Route 100)</dc:title>
  <dc:subject>PptxGenJS Presentation</dc:subject>
  <dc:creator>Group 40</dc:creator>
  <cp:lastModifiedBy>Bm22261182 KMKMK Konara</cp:lastModifiedBy>
  <cp:revision>2</cp:revision>
  <dcterms:created xsi:type="dcterms:W3CDTF">2026-10-08T14:06:04Z</dcterms:created>
  <dcterms:modified xsi:type="dcterms:W3CDTF">2026-10-08T14:22:31Z</dcterms:modified>
</cp:coreProperties>
</file>
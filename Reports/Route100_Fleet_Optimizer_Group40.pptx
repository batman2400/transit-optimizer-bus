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8F0E77D-710E-C42A-BABC-CAF55E3D7E2D}">
          <p14:sldIdLst>
            <p14:sldId id="256"/>
            <p14:sldId id="257"/>
          </p14:sldIdLst>
        </p14:section>
        <p14:section name="Part 1: Data &amp; Domain" id="{B2FAFE2C-3E21-0A3F-40E9-20906B358329}">
          <p14:sldIdLst>
            <p14:sldId id="258"/>
            <p14:sldId id="259"/>
          </p14:sldIdLst>
        </p14:section>
        <p14:section name="Part 2: Deep Learning" id="{7FFAE7BF-30D1-2E60-CDF6-BD0653AD5DF9}">
          <p14:sldIdLst>
            <p14:sldId id="260"/>
            <p14:sldId id="261"/>
            <p14:sldId id="262"/>
          </p14:sldIdLst>
        </p14:section>
        <p14:section name="Part 3: Dispatch &amp; API" id="{B0989E2A-6527-A516-3239-C83EF9329DED}">
          <p14:sldIdLst>
            <p14:sldId id="263"/>
            <p14:sldId id="264"/>
            <p14:sldId id="265"/>
          </p14:sldIdLst>
        </p14:section>
        <p14:section name="Part 4: Dashboard &amp; Demo" id="{D0868FB9-42AA-4A63-5698-BA5EEB24B50B}">
          <p14:sldIdLst>
            <p14:sldId id="266"/>
            <p14:sldId id="267"/>
            <p14:sldId id="268"/>
          </p14:sldIdLst>
        </p14:section>
        <p14:section name="Close" id="{FE6940A1-AD90-B0C6-5E08-C2C9645C7B6A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57647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group and the project: an AI-powered dispatch decision-support system for SLTB Route 100 (Panadura to Pettah on Galle Road), the busiest coastal commuter artery in Sri Lanka.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member introduces themselves with their focus area. Names are mapped to Member 1-4 in the order listed on the registration sheet.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bus falls slightly behind, passengers accumulate; the delayed bus takes longer at each stop, while the bus behind catches up with empty seats. Static schedules cannot react to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how the ~800k dataset was built with process_hybrid_dataset.py: Kaggle base distributions combined with Route 100 patterns. Directional asymmetry (morning inbound, evening outbound), gravity weights across the 8 Galle Road hubs, school rush multiplier, official LK holiday calendar, monsoon rain, and ~5% special event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an MLP (128, 64, 32) instead of a linear model: non-linear interactions between hour, direction, weather, holidays and stop. Huber loss avoids gradient explosion during extreme surges.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Time-based 80/20 split on date prevents look-ahead bias. Scalers and encoders are fitted only on the training partition. Show training logs / loss convergence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Overall results from backend/models/metrics.json on 158,622 test trips: MAE 225.8 passengers, RMSE 519.3, R² 0.33 (33.1% of demand variance explained). Then highlight the slice breakdown: rainy vs clear and peak vs off-peak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three steps in dispatch.py. Peak demand drives fleet size at 80 pax per bus; headway is 60 divided by buses, clamped to 3-30 minutes. The example is illustrative.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 = baseline travel time x peak congestion multiplier + dwell delays (0.05 x predicted stop passengers).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FastAPI exposes /predict, /metrics and /health, with automatic Swagger docs. enrich_calendar turns an ISO date into day of week, school rush flag and Sri Lankan holiday mode before the model runs. Integration checks live in test_verification.py.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Built with Next.js/React. Light depot-board theme with Fraunces and Manrope typography. Top KPIs, 8-stop corridor rail, and scenario controls. The mockup numbers are illustrative; use real screenshots if available.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Run backend/main.py and the Next.js dev server beforehand. Sequence: (1) off-peak midday, (2) 07:30 inbound to Pettah, (3) toggle rain / school rush. Headway ranges are the expected behaviour; confirm against the real system during rehearsal.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Summarise: dispatch decisions driven by predicted demand rather than static timetables. Scalable to other Colombo corridors. Future work: integrate with the LMT Go app; current metro buses already have live crowd data, so crowd levels can be predicted easily and buses dispatched accordingly. Future work items are proposals.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4"/>
                </a:solidFill>
              </a:rPr>
              <a:t>Group 40  ·  AI-Powered Dynamic Public Transport Fleet Optimizer (Route 100)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accent5"/>
                </a:solidFill>
              </a:rPr>
              <a:t>Group 40  ·  AI-Powered Dynamic Public Transport Fleet Optimizer (Route 100)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1554480"/>
            <a:ext cx="6949440" cy="2560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0772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chemeClr val="accent2"/>
                </a:solidFill>
              </a:rPr>
              <a:t>GROUP 40</a:t>
            </a:r>
            <a:endParaRPr lang="en-US" sz="16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807720" y="1965960"/>
            <a:ext cx="6949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AI-Powered Dynamic Public Transport Fleet Optimizer (Route 100)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07720" y="4663440"/>
            <a:ext cx="6766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chemeClr val="accent5"/>
                </a:solidFill>
              </a:rPr>
              <a:t>Demand-driven dispatch for SLTB Route 100 · Panadura ↔ Pettah along Galle Road</a:t>
            </a:r>
            <a:endParaRPr lang="en-US" sz="1800" dirty="0"/>
          </a:p>
        </p:txBody>
      </p:sp>
      <p:sp>
        <p:nvSpPr>
          <p:cNvPr id="6" name="Route line"/>
          <p:cNvSpPr/>
          <p:nvPr/>
        </p:nvSpPr>
        <p:spPr>
          <a:xfrm>
            <a:off x="9418320" y="914400"/>
            <a:ext cx="0" cy="493776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top Panadura"/>
          <p:cNvSpPr/>
          <p:nvPr/>
        </p:nvSpPr>
        <p:spPr>
          <a:xfrm>
            <a:off x="9281160" y="77724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9784080" y="75895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Panadura</a:t>
            </a:r>
            <a:endParaRPr lang="en-US" sz="1500" dirty="0"/>
          </a:p>
        </p:txBody>
      </p:sp>
      <p:sp>
        <p:nvSpPr>
          <p:cNvPr id="9" name="Stop Moratuwa"/>
          <p:cNvSpPr/>
          <p:nvPr/>
        </p:nvSpPr>
        <p:spPr>
          <a:xfrm>
            <a:off x="9281160" y="1482634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9784080" y="1464346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Moratuwa</a:t>
            </a:r>
            <a:endParaRPr lang="en-US" sz="1500" dirty="0"/>
          </a:p>
        </p:txBody>
      </p:sp>
      <p:sp>
        <p:nvSpPr>
          <p:cNvPr id="11" name="Stop Mt. Lavinia"/>
          <p:cNvSpPr/>
          <p:nvPr/>
        </p:nvSpPr>
        <p:spPr>
          <a:xfrm>
            <a:off x="9281160" y="2188029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9784080" y="2169741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Mt. Lavinia</a:t>
            </a:r>
            <a:endParaRPr lang="en-US" sz="1500" dirty="0"/>
          </a:p>
        </p:txBody>
      </p:sp>
      <p:sp>
        <p:nvSpPr>
          <p:cNvPr id="13" name="Stop Dehiwala"/>
          <p:cNvSpPr/>
          <p:nvPr/>
        </p:nvSpPr>
        <p:spPr>
          <a:xfrm>
            <a:off x="9281160" y="2893423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9784080" y="2875135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Dehiwala</a:t>
            </a:r>
            <a:endParaRPr lang="en-US" sz="1500" dirty="0"/>
          </a:p>
        </p:txBody>
      </p:sp>
      <p:sp>
        <p:nvSpPr>
          <p:cNvPr id="15" name="Stop Wellawatta"/>
          <p:cNvSpPr/>
          <p:nvPr/>
        </p:nvSpPr>
        <p:spPr>
          <a:xfrm>
            <a:off x="9281160" y="3598817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9784080" y="3580529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Wellawatta</a:t>
            </a:r>
            <a:endParaRPr lang="en-US" sz="1500" dirty="0"/>
          </a:p>
        </p:txBody>
      </p:sp>
      <p:sp>
        <p:nvSpPr>
          <p:cNvPr id="17" name="Stop Bambalapitiya"/>
          <p:cNvSpPr/>
          <p:nvPr/>
        </p:nvSpPr>
        <p:spPr>
          <a:xfrm>
            <a:off x="9281160" y="4304211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9784080" y="4285923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Bambalapitiya</a:t>
            </a:r>
            <a:endParaRPr lang="en-US" sz="1500" dirty="0"/>
          </a:p>
        </p:txBody>
      </p:sp>
      <p:sp>
        <p:nvSpPr>
          <p:cNvPr id="19" name="Stop Kollupitiya"/>
          <p:cNvSpPr/>
          <p:nvPr/>
        </p:nvSpPr>
        <p:spPr>
          <a:xfrm>
            <a:off x="9281160" y="5009606"/>
            <a:ext cx="274320" cy="274320"/>
          </a:xfrm>
          <a:prstGeom prst="ellipse">
            <a:avLst/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9784080" y="4991318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chemeClr val="bg1"/>
                </a:solidFill>
              </a:rPr>
              <a:t>Kollupitiya</a:t>
            </a:r>
            <a:endParaRPr lang="en-US" sz="1500" dirty="0"/>
          </a:p>
        </p:txBody>
      </p:sp>
      <p:sp>
        <p:nvSpPr>
          <p:cNvPr id="21" name="Stop Pettah"/>
          <p:cNvSpPr/>
          <p:nvPr/>
        </p:nvSpPr>
        <p:spPr>
          <a:xfrm>
            <a:off x="9281160" y="5715000"/>
            <a:ext cx="274320" cy="27432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9784080" y="5696712"/>
            <a:ext cx="2194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Pettah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9190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OUR TEAM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889082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Group 40</a:t>
            </a:r>
            <a:endParaRPr lang="en-US" sz="3400" dirty="0"/>
          </a:p>
        </p:txBody>
      </p:sp>
      <p:sp>
        <p:nvSpPr>
          <p:cNvPr id="4" name="Member card 1"/>
          <p:cNvSpPr/>
          <p:nvPr/>
        </p:nvSpPr>
        <p:spPr>
          <a:xfrm>
            <a:off x="54864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 txBox="1"/>
          <p:nvPr/>
        </p:nvSpPr>
        <p:spPr>
          <a:xfrm>
            <a:off x="82296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M Uvaram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D/BSE/25/0012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Software Engineering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Deep learning architecture &amp; model training</a:t>
            </a:r>
            <a:endParaRPr lang="en-US" sz="1400" dirty="0"/>
          </a:p>
        </p:txBody>
      </p:sp>
      <p:sp>
        <p:nvSpPr>
          <p:cNvPr id="12" name="Member card 2"/>
          <p:cNvSpPr/>
          <p:nvPr/>
        </p:nvSpPr>
        <p:spPr>
          <a:xfrm>
            <a:off x="338328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2"/>
          <p:cNvSpPr txBox="1"/>
          <p:nvPr/>
        </p:nvSpPr>
        <p:spPr>
          <a:xfrm>
            <a:off x="365760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TTC Jayasinghe</a:t>
            </a:r>
            <a:endParaRPr lang="en-US" sz="1800" dirty="0"/>
          </a:p>
        </p:txBody>
      </p:sp>
      <p:sp>
        <p:nvSpPr>
          <p:cNvPr id="17" name="Text 13"/>
          <p:cNvSpPr txBox="1"/>
          <p:nvPr/>
        </p:nvSpPr>
        <p:spPr>
          <a:xfrm>
            <a:off x="365760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D/DBA/25/0016</a:t>
            </a:r>
            <a:endParaRPr lang="en-US" sz="12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Data Science &amp; Business Analytics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365760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Data engineering &amp; Colombo domain modeling</a:t>
            </a:r>
            <a:endParaRPr lang="en-US" sz="1400" dirty="0"/>
          </a:p>
        </p:txBody>
      </p:sp>
      <p:sp>
        <p:nvSpPr>
          <p:cNvPr id="20" name="Member card 3"/>
          <p:cNvSpPr/>
          <p:nvPr/>
        </p:nvSpPr>
        <p:spPr>
          <a:xfrm>
            <a:off x="621792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649224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SNMRDS Arambepola</a:t>
            </a:r>
            <a:endParaRPr lang="en-US" sz="1800" dirty="0"/>
          </a:p>
        </p:txBody>
      </p:sp>
      <p:sp>
        <p:nvSpPr>
          <p:cNvPr id="25" name="Text 20"/>
          <p:cNvSpPr txBox="1"/>
          <p:nvPr/>
        </p:nvSpPr>
        <p:spPr>
          <a:xfrm>
            <a:off x="649224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D/BIT/24/0039</a:t>
            </a:r>
            <a:endParaRPr lang="en-US" sz="1200" dirty="0"/>
          </a:p>
        </p:txBody>
      </p:sp>
      <p:sp>
        <p:nvSpPr>
          <p:cNvPr id="26" name="Text 21"/>
          <p:cNvSpPr txBox="1"/>
          <p:nvPr/>
        </p:nvSpPr>
        <p:spPr>
          <a:xfrm>
            <a:off x="649224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Information Technology</a:t>
            </a:r>
            <a:endParaRPr lang="en-US" sz="1300" dirty="0"/>
          </a:p>
        </p:txBody>
      </p:sp>
      <p:sp>
        <p:nvSpPr>
          <p:cNvPr id="27" name="Text 22"/>
          <p:cNvSpPr txBox="1"/>
          <p:nvPr/>
        </p:nvSpPr>
        <p:spPr>
          <a:xfrm>
            <a:off x="649224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Dispatch logic &amp; backend API</a:t>
            </a:r>
            <a:endParaRPr lang="en-US" sz="1400" dirty="0"/>
          </a:p>
        </p:txBody>
      </p:sp>
      <p:sp>
        <p:nvSpPr>
          <p:cNvPr id="28" name="Member card 4"/>
          <p:cNvSpPr/>
          <p:nvPr/>
        </p:nvSpPr>
        <p:spPr>
          <a:xfrm>
            <a:off x="9052560" y="1828800"/>
            <a:ext cx="2606040" cy="411480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2" name="Text 26"/>
          <p:cNvSpPr txBox="1"/>
          <p:nvPr/>
        </p:nvSpPr>
        <p:spPr>
          <a:xfrm>
            <a:off x="9326880" y="2777121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JGJB Gamage</a:t>
            </a:r>
            <a:endParaRPr lang="en-US" sz="1800" dirty="0"/>
          </a:p>
        </p:txBody>
      </p:sp>
      <p:sp>
        <p:nvSpPr>
          <p:cNvPr id="33" name="Text 27"/>
          <p:cNvSpPr txBox="1"/>
          <p:nvPr/>
        </p:nvSpPr>
        <p:spPr>
          <a:xfrm>
            <a:off x="9326880" y="3188601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D/BIT/24/0056</a:t>
            </a:r>
            <a:endParaRPr lang="en-US" sz="1200" dirty="0"/>
          </a:p>
        </p:txBody>
      </p:sp>
      <p:sp>
        <p:nvSpPr>
          <p:cNvPr id="34" name="Text 28"/>
          <p:cNvSpPr txBox="1"/>
          <p:nvPr/>
        </p:nvSpPr>
        <p:spPr>
          <a:xfrm>
            <a:off x="9326880" y="3462921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1"/>
                </a:solidFill>
              </a:rPr>
              <a:t>Information Technology</a:t>
            </a:r>
            <a:endParaRPr lang="en-US" sz="1300" dirty="0"/>
          </a:p>
        </p:txBody>
      </p:sp>
      <p:sp>
        <p:nvSpPr>
          <p:cNvPr id="35" name="Text 29"/>
          <p:cNvSpPr txBox="1"/>
          <p:nvPr/>
        </p:nvSpPr>
        <p:spPr>
          <a:xfrm>
            <a:off x="9326880" y="4240161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Frontend dashboard &amp; live demo</a:t>
            </a:r>
            <a:endParaRPr lang="en-US" sz="140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· THE TRANSIT CHALLENGE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 Presenter · TTC Jayasinghe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Static schedules cause bus bunching</a:t>
            </a:r>
            <a:endParaRPr lang="en-US" sz="3400" dirty="0"/>
          </a:p>
        </p:txBody>
      </p:sp>
      <p:sp>
        <p:nvSpPr>
          <p:cNvPr id="6" name="Problem icon 1"/>
          <p:cNvSpPr/>
          <p:nvPr/>
        </p:nvSpPr>
        <p:spPr>
          <a:xfrm>
            <a:off x="548640" y="18288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Problem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948" y="2007108"/>
            <a:ext cx="329184" cy="32918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18105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One bus slips behind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2128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More passengers gather at each stop, so dwell time keeps growing.</a:t>
            </a:r>
            <a:endParaRPr lang="en-US" sz="1500" dirty="0"/>
          </a:p>
        </p:txBody>
      </p:sp>
      <p:sp>
        <p:nvSpPr>
          <p:cNvPr id="10" name="Problem icon 2"/>
          <p:cNvSpPr/>
          <p:nvPr/>
        </p:nvSpPr>
        <p:spPr>
          <a:xfrm>
            <a:off x="548640" y="32004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Problem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948" y="337870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1821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delay compounds</a:t>
            </a:r>
            <a:endParaRPr lang="en-US" sz="20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5844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The late bus slows further while the bus behind catches up.</a:t>
            </a:r>
            <a:endParaRPr lang="en-US" sz="1500" dirty="0"/>
          </a:p>
        </p:txBody>
      </p:sp>
      <p:sp>
        <p:nvSpPr>
          <p:cNvPr id="14" name="Problem icon 3"/>
          <p:cNvSpPr/>
          <p:nvPr/>
        </p:nvSpPr>
        <p:spPr>
          <a:xfrm>
            <a:off x="548640" y="45720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Problem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948" y="4750308"/>
            <a:ext cx="329184" cy="32918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553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Bunching follows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4956048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Crowded buses, empty followers and long gaps between arrivals.</a:t>
            </a:r>
            <a:endParaRPr lang="en-US" sz="1500" dirty="0"/>
          </a:p>
        </p:txBody>
      </p:sp>
      <p:sp>
        <p:nvSpPr>
          <p:cNvPr id="18" name="Bunching diagram panel"/>
          <p:cNvSpPr/>
          <p:nvPr/>
        </p:nvSpPr>
        <p:spPr>
          <a:xfrm>
            <a:off x="6126480" y="1828800"/>
            <a:ext cx="5486400" cy="4023360"/>
          </a:xfrm>
          <a:prstGeom prst="roundRect">
            <a:avLst>
              <a:gd name="adj" fmla="val 272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4"/>
          <p:cNvSpPr txBox="1"/>
          <p:nvPr/>
        </p:nvSpPr>
        <p:spPr>
          <a:xfrm>
            <a:off x="6400800" y="2057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PLANNED: even headway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6400800" y="3063240"/>
            <a:ext cx="4937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Planned bus 1"/>
          <p:cNvSpPr/>
          <p:nvPr/>
        </p:nvSpPr>
        <p:spPr>
          <a:xfrm>
            <a:off x="658368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 txBox="1"/>
          <p:nvPr/>
        </p:nvSpPr>
        <p:spPr>
          <a:xfrm>
            <a:off x="658368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3" name="Planned bus 2"/>
          <p:cNvSpPr/>
          <p:nvPr/>
        </p:nvSpPr>
        <p:spPr>
          <a:xfrm>
            <a:off x="777240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 txBox="1"/>
          <p:nvPr/>
        </p:nvSpPr>
        <p:spPr>
          <a:xfrm>
            <a:off x="777240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5" name="Planned bus 3"/>
          <p:cNvSpPr/>
          <p:nvPr/>
        </p:nvSpPr>
        <p:spPr>
          <a:xfrm>
            <a:off x="896112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1"/>
          <p:cNvSpPr txBox="1"/>
          <p:nvPr/>
        </p:nvSpPr>
        <p:spPr>
          <a:xfrm>
            <a:off x="896112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7" name="Planned bus 4"/>
          <p:cNvSpPr/>
          <p:nvPr/>
        </p:nvSpPr>
        <p:spPr>
          <a:xfrm>
            <a:off x="10149840" y="278892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 txBox="1"/>
          <p:nvPr/>
        </p:nvSpPr>
        <p:spPr>
          <a:xfrm>
            <a:off x="10149840" y="278892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Bus</a:t>
            </a:r>
            <a:endParaRPr lang="en-US" sz="1200" dirty="0"/>
          </a:p>
        </p:txBody>
      </p:sp>
      <p:sp>
        <p:nvSpPr>
          <p:cNvPr id="29" name="Text 24"/>
          <p:cNvSpPr txBox="1"/>
          <p:nvPr/>
        </p:nvSpPr>
        <p:spPr>
          <a:xfrm>
            <a:off x="6400800" y="37947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3"/>
                </a:solidFill>
              </a:rPr>
              <a:t>ACTUAL: bunching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6400800" y="4800600"/>
            <a:ext cx="4937760" cy="0"/>
          </a:xfrm>
          <a:prstGeom prst="line">
            <a:avLst/>
          </a:prstGeom>
          <a:noFill/>
          <a:ln w="25400">
            <a:solidFill>
              <a:schemeClr val="accent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Bunched bus 1"/>
          <p:cNvSpPr/>
          <p:nvPr/>
        </p:nvSpPr>
        <p:spPr>
          <a:xfrm>
            <a:off x="658368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27"/>
          <p:cNvSpPr txBox="1"/>
          <p:nvPr/>
        </p:nvSpPr>
        <p:spPr>
          <a:xfrm>
            <a:off x="658368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Packed</a:t>
            </a:r>
            <a:endParaRPr lang="en-US" sz="1200" dirty="0"/>
          </a:p>
        </p:txBody>
      </p:sp>
      <p:sp>
        <p:nvSpPr>
          <p:cNvPr id="33" name="Bunched bus 2"/>
          <p:cNvSpPr/>
          <p:nvPr/>
        </p:nvSpPr>
        <p:spPr>
          <a:xfrm>
            <a:off x="928116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29"/>
          <p:cNvSpPr txBox="1"/>
          <p:nvPr/>
        </p:nvSpPr>
        <p:spPr>
          <a:xfrm>
            <a:off x="928116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Empty</a:t>
            </a:r>
            <a:endParaRPr lang="en-US" sz="1200" dirty="0"/>
          </a:p>
        </p:txBody>
      </p:sp>
      <p:sp>
        <p:nvSpPr>
          <p:cNvPr id="35" name="Bunched bus 3"/>
          <p:cNvSpPr/>
          <p:nvPr/>
        </p:nvSpPr>
        <p:spPr>
          <a:xfrm>
            <a:off x="10241280" y="4526280"/>
            <a:ext cx="868680" cy="548640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1"/>
          <p:cNvSpPr txBox="1"/>
          <p:nvPr/>
        </p:nvSpPr>
        <p:spPr>
          <a:xfrm>
            <a:off x="10241280" y="4526280"/>
            <a:ext cx="868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bg1"/>
                </a:solidFill>
              </a:rPr>
              <a:t>Empty</a:t>
            </a:r>
            <a:endParaRPr lang="en-US" sz="1200" dirty="0"/>
          </a:p>
        </p:txBody>
      </p:sp>
      <p:sp>
        <p:nvSpPr>
          <p:cNvPr id="37" name="Text 32"/>
          <p:cNvSpPr txBox="1"/>
          <p:nvPr/>
        </p:nvSpPr>
        <p:spPr>
          <a:xfrm>
            <a:off x="7498080" y="4114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chemeClr val="accent3"/>
                </a:solidFill>
              </a:rPr>
              <a:t>long wait for passengers</a:t>
            </a:r>
            <a:endParaRPr lang="en-US" sz="1200" dirty="0"/>
          </a:p>
        </p:txBody>
      </p:sp>
      <p:sp>
        <p:nvSpPr>
          <p:cNvPr id="38" name="Text 33"/>
          <p:cNvSpPr txBox="1"/>
          <p:nvPr/>
        </p:nvSpPr>
        <p:spPr>
          <a:xfrm>
            <a:off x="6400800" y="53035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Result: overcrowding, long waits and wasted fleet capacity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1 · DATA ENGINEERING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 Presenter · TTC Jayasinghe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Modeling Galle Road commute realism</a:t>
            </a:r>
            <a:endParaRPr lang="en-US" sz="3400" dirty="0"/>
          </a:p>
        </p:txBody>
      </p:sp>
      <p:sp>
        <p:nvSpPr>
          <p:cNvPr id="6" name="Outbound pill"/>
          <p:cNvSpPr/>
          <p:nvPr/>
        </p:nvSpPr>
        <p:spPr>
          <a:xfrm>
            <a:off x="548640" y="1691640"/>
            <a:ext cx="4114800" cy="365760"/>
          </a:xfrm>
          <a:prstGeom prst="roundRect">
            <a:avLst>
              <a:gd name="adj" fmla="val 3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← Evening rush: outbound to Panadura</a:t>
            </a:r>
            <a:endParaRPr lang="en-US" sz="1300" dirty="0"/>
          </a:p>
        </p:txBody>
      </p:sp>
      <p:sp>
        <p:nvSpPr>
          <p:cNvPr id="8" name="Inbound pill"/>
          <p:cNvSpPr/>
          <p:nvPr/>
        </p:nvSpPr>
        <p:spPr>
          <a:xfrm>
            <a:off x="7498080" y="1691640"/>
            <a:ext cx="4114800" cy="365760"/>
          </a:xfrm>
          <a:prstGeom prst="roundRect">
            <a:avLst>
              <a:gd name="adj" fmla="val 3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749808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tx2"/>
                </a:solidFill>
              </a:rPr>
              <a:t>Morning rush: inbound to Pettah 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280160" y="2468880"/>
            <a:ext cx="9601200" cy="0"/>
          </a:xfrm>
          <a:prstGeom prst="line">
            <a:avLst/>
          </a:prstGeom>
          <a:noFill/>
          <a:ln w="38100">
            <a:solidFill>
              <a:schemeClr val="accent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Rail stop Panadura"/>
          <p:cNvSpPr/>
          <p:nvPr/>
        </p:nvSpPr>
        <p:spPr>
          <a:xfrm>
            <a:off x="1133856" y="232257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6400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Panadura</a:t>
            </a:r>
            <a:endParaRPr lang="en-US" sz="1200" dirty="0"/>
          </a:p>
        </p:txBody>
      </p:sp>
      <p:sp>
        <p:nvSpPr>
          <p:cNvPr id="13" name="Rail stop Moratuwa"/>
          <p:cNvSpPr/>
          <p:nvPr/>
        </p:nvSpPr>
        <p:spPr>
          <a:xfrm>
            <a:off x="25054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20116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Moratuwa</a:t>
            </a:r>
            <a:endParaRPr lang="en-US" sz="1200" dirty="0"/>
          </a:p>
        </p:txBody>
      </p:sp>
      <p:sp>
        <p:nvSpPr>
          <p:cNvPr id="15" name="Rail stop Mt. Lavinia"/>
          <p:cNvSpPr/>
          <p:nvPr/>
        </p:nvSpPr>
        <p:spPr>
          <a:xfrm>
            <a:off x="38770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33832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Mt. Lavinia</a:t>
            </a:r>
            <a:endParaRPr lang="en-US" sz="1200" dirty="0"/>
          </a:p>
        </p:txBody>
      </p:sp>
      <p:sp>
        <p:nvSpPr>
          <p:cNvPr id="17" name="Rail stop Dehiwala"/>
          <p:cNvSpPr/>
          <p:nvPr/>
        </p:nvSpPr>
        <p:spPr>
          <a:xfrm>
            <a:off x="52486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 txBox="1"/>
          <p:nvPr/>
        </p:nvSpPr>
        <p:spPr>
          <a:xfrm>
            <a:off x="47548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Dehiwala</a:t>
            </a:r>
            <a:endParaRPr lang="en-US" sz="1200" dirty="0"/>
          </a:p>
        </p:txBody>
      </p:sp>
      <p:sp>
        <p:nvSpPr>
          <p:cNvPr id="19" name="Rail stop Wellawatta"/>
          <p:cNvSpPr/>
          <p:nvPr/>
        </p:nvSpPr>
        <p:spPr>
          <a:xfrm>
            <a:off x="66202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61264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Wellawatta</a:t>
            </a:r>
            <a:endParaRPr lang="en-US" sz="1200" dirty="0"/>
          </a:p>
        </p:txBody>
      </p:sp>
      <p:sp>
        <p:nvSpPr>
          <p:cNvPr id="21" name="Rail stop Bambalapitiya"/>
          <p:cNvSpPr/>
          <p:nvPr/>
        </p:nvSpPr>
        <p:spPr>
          <a:xfrm>
            <a:off x="79918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74980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Bambalapitiya</a:t>
            </a:r>
            <a:endParaRPr lang="en-US" sz="1200" dirty="0"/>
          </a:p>
        </p:txBody>
      </p:sp>
      <p:sp>
        <p:nvSpPr>
          <p:cNvPr id="23" name="Rail stop Kollupitiya"/>
          <p:cNvSpPr/>
          <p:nvPr/>
        </p:nvSpPr>
        <p:spPr>
          <a:xfrm>
            <a:off x="9363456" y="2322576"/>
            <a:ext cx="292608" cy="292608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8696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2"/>
                </a:solidFill>
              </a:rPr>
              <a:t>Kollupitiya</a:t>
            </a:r>
            <a:endParaRPr lang="en-US" sz="1200" dirty="0"/>
          </a:p>
        </p:txBody>
      </p:sp>
      <p:sp>
        <p:nvSpPr>
          <p:cNvPr id="25" name="Rail stop Pettah"/>
          <p:cNvSpPr/>
          <p:nvPr/>
        </p:nvSpPr>
        <p:spPr>
          <a:xfrm>
            <a:off x="10735056" y="2322576"/>
            <a:ext cx="292608" cy="292608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10241280" y="272491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dirty="0">
                <a:solidFill>
                  <a:schemeClr val="tx2"/>
                </a:solidFill>
              </a:rPr>
              <a:t>Pettah</a:t>
            </a:r>
            <a:endParaRPr lang="en-US" sz="1200" dirty="0"/>
          </a:p>
        </p:txBody>
      </p:sp>
      <p:sp>
        <p:nvSpPr>
          <p:cNvPr id="27" name="Stat card 1"/>
          <p:cNvSpPr/>
          <p:nvPr/>
        </p:nvSpPr>
        <p:spPr>
          <a:xfrm>
            <a:off x="54864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Stat icon 1"/>
          <p:cNvSpPr/>
          <p:nvPr/>
        </p:nvSpPr>
        <p:spPr>
          <a:xfrm>
            <a:off x="77724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9" name="Stat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3781958"/>
            <a:ext cx="263347" cy="263347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77724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~800K</a:t>
            </a:r>
            <a:endParaRPr lang="en-US" sz="2800" dirty="0"/>
          </a:p>
        </p:txBody>
      </p:sp>
      <p:sp>
        <p:nvSpPr>
          <p:cNvPr id="31" name="Text 28"/>
          <p:cNvSpPr txBox="1"/>
          <p:nvPr/>
        </p:nvSpPr>
        <p:spPr>
          <a:xfrm>
            <a:off x="77724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rows in the stratified hybrid dataset</a:t>
            </a:r>
            <a:endParaRPr lang="en-US" sz="1400" dirty="0"/>
          </a:p>
        </p:txBody>
      </p:sp>
      <p:sp>
        <p:nvSpPr>
          <p:cNvPr id="32" name="Stat card 2"/>
          <p:cNvSpPr/>
          <p:nvPr/>
        </p:nvSpPr>
        <p:spPr>
          <a:xfrm>
            <a:off x="338328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tat icon 2"/>
          <p:cNvSpPr/>
          <p:nvPr/>
        </p:nvSpPr>
        <p:spPr>
          <a:xfrm>
            <a:off x="361188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Stat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3781958"/>
            <a:ext cx="263347" cy="263347"/>
          </a:xfrm>
          <a:prstGeom prst="rect">
            <a:avLst/>
          </a:prstGeom>
        </p:spPr>
      </p:pic>
      <p:sp>
        <p:nvSpPr>
          <p:cNvPr id="35" name="Text 31"/>
          <p:cNvSpPr txBox="1"/>
          <p:nvPr/>
        </p:nvSpPr>
        <p:spPr>
          <a:xfrm>
            <a:off x="361188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1.40×</a:t>
            </a:r>
            <a:endParaRPr lang="en-US" sz="2800" dirty="0"/>
          </a:p>
        </p:txBody>
      </p:sp>
      <p:sp>
        <p:nvSpPr>
          <p:cNvPr id="36" name="Text 32"/>
          <p:cNvSpPr txBox="1"/>
          <p:nvPr/>
        </p:nvSpPr>
        <p:spPr>
          <a:xfrm>
            <a:off x="361188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school-rush multiplier, 06:00–07:00 &amp; 13:00–14:00</a:t>
            </a:r>
            <a:endParaRPr lang="en-US" sz="1400" dirty="0"/>
          </a:p>
        </p:txBody>
      </p:sp>
      <p:sp>
        <p:nvSpPr>
          <p:cNvPr id="37" name="Stat card 3"/>
          <p:cNvSpPr/>
          <p:nvPr/>
        </p:nvSpPr>
        <p:spPr>
          <a:xfrm>
            <a:off x="621792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Stat icon 3"/>
          <p:cNvSpPr/>
          <p:nvPr/>
        </p:nvSpPr>
        <p:spPr>
          <a:xfrm>
            <a:off x="644652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9" name="Stat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166" y="3781958"/>
            <a:ext cx="263347" cy="263347"/>
          </a:xfrm>
          <a:prstGeom prst="rect">
            <a:avLst/>
          </a:prstGeom>
        </p:spPr>
      </p:pic>
      <p:sp>
        <p:nvSpPr>
          <p:cNvPr id="40" name="Text 35"/>
          <p:cNvSpPr txBox="1"/>
          <p:nvPr/>
        </p:nvSpPr>
        <p:spPr>
          <a:xfrm>
            <a:off x="644652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tx2"/>
                </a:solidFill>
              </a:rPr>
              <a:t>Sri Lanka</a:t>
            </a:r>
            <a:endParaRPr lang="en-US" sz="2800" dirty="0"/>
          </a:p>
        </p:txBody>
      </p:sp>
      <p:sp>
        <p:nvSpPr>
          <p:cNvPr id="41" name="Text 36"/>
          <p:cNvSpPr txBox="1"/>
          <p:nvPr/>
        </p:nvSpPr>
        <p:spPr>
          <a:xfrm>
            <a:off x="644652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public and bank holidays via the holidays library</a:t>
            </a:r>
            <a:endParaRPr lang="en-US" sz="1400" dirty="0"/>
          </a:p>
        </p:txBody>
      </p:sp>
      <p:sp>
        <p:nvSpPr>
          <p:cNvPr id="42" name="Stat card 4"/>
          <p:cNvSpPr/>
          <p:nvPr/>
        </p:nvSpPr>
        <p:spPr>
          <a:xfrm>
            <a:off x="9052560" y="3429000"/>
            <a:ext cx="2606040" cy="2606040"/>
          </a:xfrm>
          <a:prstGeom prst="roundRect">
            <a:avLst>
              <a:gd name="adj" fmla="val 4211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Stat icon 4"/>
          <p:cNvSpPr/>
          <p:nvPr/>
        </p:nvSpPr>
        <p:spPr>
          <a:xfrm>
            <a:off x="9281160" y="3639312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4" name="Stat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06" y="3781958"/>
            <a:ext cx="263347" cy="263347"/>
          </a:xfrm>
          <a:prstGeom prst="rect">
            <a:avLst/>
          </a:prstGeom>
        </p:spPr>
      </p:pic>
      <p:sp>
        <p:nvSpPr>
          <p:cNvPr id="45" name="Text 39"/>
          <p:cNvSpPr txBox="1"/>
          <p:nvPr/>
        </p:nvSpPr>
        <p:spPr>
          <a:xfrm>
            <a:off x="928116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2"/>
                </a:solidFill>
              </a:rPr>
              <a:t>Monsoon + events</a:t>
            </a:r>
            <a:endParaRPr lang="en-US" sz="2000" dirty="0"/>
          </a:p>
        </p:txBody>
      </p:sp>
      <p:sp>
        <p:nvSpPr>
          <p:cNvPr id="46" name="Text 40"/>
          <p:cNvSpPr txBox="1"/>
          <p:nvPr/>
        </p:nvSpPr>
        <p:spPr>
          <a:xfrm>
            <a:off x="9281160" y="49377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calibrated rain effect and ~5% special-event surges</a:t>
            </a:r>
            <a:endParaRPr lang="en-US" sz="1400" dirty="0"/>
          </a:p>
        </p:txBody>
      </p:sp>
      <p:sp>
        <p:nvSpPr>
          <p:cNvPr id="4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Presenter · M </a:t>
            </a:r>
            <a:r>
              <a:rPr lang="en-US" sz="1100" b="1" dirty="0" err="1">
                <a:solidFill>
                  <a:schemeClr val="tx2"/>
                </a:solidFill>
              </a:rPr>
              <a:t>Uvaram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PyTorch MLP architecture</a:t>
            </a:r>
            <a:endParaRPr lang="en-US" sz="3400" dirty="0"/>
          </a:p>
        </p:txBody>
      </p:sp>
      <p:sp>
        <p:nvSpPr>
          <p:cNvPr id="6" name="Layer Input"/>
          <p:cNvSpPr/>
          <p:nvPr/>
        </p:nvSpPr>
        <p:spPr>
          <a:xfrm>
            <a:off x="548640" y="1737360"/>
            <a:ext cx="1920240" cy="2743200"/>
          </a:xfrm>
          <a:prstGeom prst="roundRect">
            <a:avLst>
              <a:gd name="adj" fmla="val 5714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Input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One-hot + MinMax scaled features</a:t>
            </a:r>
            <a:endParaRPr lang="en-US" sz="1400" dirty="0"/>
          </a:p>
        </p:txBody>
      </p:sp>
      <p:sp>
        <p:nvSpPr>
          <p:cNvPr id="9" name="Arrow 1"/>
          <p:cNvSpPr/>
          <p:nvPr/>
        </p:nvSpPr>
        <p:spPr>
          <a:xfrm>
            <a:off x="2505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Layer Dense 128"/>
          <p:cNvSpPr/>
          <p:nvPr/>
        </p:nvSpPr>
        <p:spPr>
          <a:xfrm>
            <a:off x="2834640" y="1920240"/>
            <a:ext cx="1920240" cy="237744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971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128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2971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BatchNorm · Dropout 0.2</a:t>
            </a:r>
            <a:endParaRPr lang="en-US" sz="1400" dirty="0"/>
          </a:p>
        </p:txBody>
      </p:sp>
      <p:sp>
        <p:nvSpPr>
          <p:cNvPr id="13" name="Arrow 2"/>
          <p:cNvSpPr/>
          <p:nvPr/>
        </p:nvSpPr>
        <p:spPr>
          <a:xfrm>
            <a:off x="4791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Layer Dense 64"/>
          <p:cNvSpPr/>
          <p:nvPr/>
        </p:nvSpPr>
        <p:spPr>
          <a:xfrm>
            <a:off x="5120640" y="2103120"/>
            <a:ext cx="1920240" cy="201168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5257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64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BatchNorm · Dropout 0.2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7077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Layer Dense 32"/>
          <p:cNvSpPr/>
          <p:nvPr/>
        </p:nvSpPr>
        <p:spPr>
          <a:xfrm>
            <a:off x="7406640" y="2286000"/>
            <a:ext cx="1920240" cy="164592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7543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</a:rPr>
              <a:t>Dense 32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7543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bg1"/>
                </a:solidFill>
              </a:rPr>
              <a:t>ReLU hidden layer</a:t>
            </a:r>
            <a:endParaRPr lang="en-US" sz="1400" dirty="0"/>
          </a:p>
        </p:txBody>
      </p:sp>
      <p:sp>
        <p:nvSpPr>
          <p:cNvPr id="21" name="Arrow 4"/>
          <p:cNvSpPr/>
          <p:nvPr/>
        </p:nvSpPr>
        <p:spPr>
          <a:xfrm>
            <a:off x="9363456" y="2990088"/>
            <a:ext cx="292608" cy="237744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Layer Output"/>
          <p:cNvSpPr/>
          <p:nvPr/>
        </p:nvSpPr>
        <p:spPr>
          <a:xfrm>
            <a:off x="9692640" y="2423160"/>
            <a:ext cx="1920240" cy="1371600"/>
          </a:xfrm>
          <a:prstGeom prst="roundRect">
            <a:avLst>
              <a:gd name="adj" fmla="val 8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9829800" y="26517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tx2"/>
                </a:solidFill>
              </a:rPr>
              <a:t>Output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9829800" y="30632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dirty="0">
                <a:solidFill>
                  <a:schemeClr val="tx2"/>
                </a:solidFill>
              </a:rPr>
              <a:t>Predicted passengers per stop</a:t>
            </a:r>
            <a:endParaRPr lang="en-US" sz="1400" dirty="0"/>
          </a:p>
        </p:txBody>
      </p:sp>
      <p:sp>
        <p:nvSpPr>
          <p:cNvPr id="25" name="Training icon 1"/>
          <p:cNvSpPr/>
          <p:nvPr/>
        </p:nvSpPr>
        <p:spPr>
          <a:xfrm>
            <a:off x="54864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Training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5034686"/>
            <a:ext cx="263347" cy="263347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128016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Huber loss (Smooth L1)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128016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Robust to extreme passenger surges.</a:t>
            </a:r>
            <a:endParaRPr lang="en-US" sz="1400" dirty="0"/>
          </a:p>
        </p:txBody>
      </p:sp>
      <p:sp>
        <p:nvSpPr>
          <p:cNvPr id="29" name="Training icon 2"/>
          <p:cNvSpPr/>
          <p:nvPr/>
        </p:nvSpPr>
        <p:spPr>
          <a:xfrm>
            <a:off x="429768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" name="Training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0326" y="5034686"/>
            <a:ext cx="263347" cy="263347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502920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Adam, lr = 0.001</a:t>
            </a:r>
            <a:endParaRPr lang="en-US" sz="1600" dirty="0"/>
          </a:p>
        </p:txBody>
      </p:sp>
      <p:sp>
        <p:nvSpPr>
          <p:cNvPr id="32" name="Text 28"/>
          <p:cNvSpPr txBox="1"/>
          <p:nvPr/>
        </p:nvSpPr>
        <p:spPr>
          <a:xfrm>
            <a:off x="502920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With early stopping to avoid overfitting.</a:t>
            </a:r>
            <a:endParaRPr lang="en-US" sz="1400" dirty="0"/>
          </a:p>
        </p:txBody>
      </p:sp>
      <p:sp>
        <p:nvSpPr>
          <p:cNvPr id="33" name="Training icon 3"/>
          <p:cNvSpPr/>
          <p:nvPr/>
        </p:nvSpPr>
        <p:spPr>
          <a:xfrm>
            <a:off x="8046720" y="4892040"/>
            <a:ext cx="548640" cy="548640"/>
          </a:xfrm>
          <a:prstGeom prst="ellipse">
            <a:avLst/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4" name="Training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9366" y="5034686"/>
            <a:ext cx="263347" cy="263347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78240" y="484632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BatchNorm + Dropout</a:t>
            </a:r>
            <a:endParaRPr lang="en-US" sz="1600" dirty="0"/>
          </a:p>
        </p:txBody>
      </p:sp>
      <p:sp>
        <p:nvSpPr>
          <p:cNvPr id="36" name="Text 31"/>
          <p:cNvSpPr txBox="1"/>
          <p:nvPr/>
        </p:nvSpPr>
        <p:spPr>
          <a:xfrm>
            <a:off x="8778240" y="521208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Stable training and better generalisation.</a:t>
            </a:r>
            <a:endParaRPr lang="en-US" sz="1400" dirty="0"/>
          </a:p>
        </p:txBody>
      </p:sp>
      <p:sp>
        <p:nvSpPr>
          <p:cNvPr id="3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Presenter · M </a:t>
            </a:r>
            <a:r>
              <a:rPr lang="en-US" sz="1100" b="1" dirty="0" err="1">
                <a:solidFill>
                  <a:schemeClr val="tx2"/>
                </a:solidFill>
              </a:rPr>
              <a:t>Uvaram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Leakage-proof data pipeline</a:t>
            </a:r>
            <a:endParaRPr lang="en-US" sz="3400" dirty="0"/>
          </a:p>
        </p:txBody>
      </p:sp>
      <p:sp>
        <p:nvSpPr>
          <p:cNvPr id="6" name="Train split"/>
          <p:cNvSpPr/>
          <p:nvPr/>
        </p:nvSpPr>
        <p:spPr>
          <a:xfrm>
            <a:off x="548640" y="1828800"/>
            <a:ext cx="8851392" cy="86868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828800"/>
            <a:ext cx="88513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Train · 80%</a:t>
            </a:r>
            <a:endParaRPr lang="en-US" sz="2200" dirty="0"/>
          </a:p>
        </p:txBody>
      </p:sp>
      <p:sp>
        <p:nvSpPr>
          <p:cNvPr id="8" name="Test split"/>
          <p:cNvSpPr/>
          <p:nvPr/>
        </p:nvSpPr>
        <p:spPr>
          <a:xfrm>
            <a:off x="9400032" y="1828800"/>
            <a:ext cx="2212848" cy="8686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9400032" y="1828800"/>
            <a:ext cx="221284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2"/>
                </a:solidFill>
              </a:rPr>
              <a:t>Test · 20%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Oldest dates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7889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4"/>
                </a:solidFill>
              </a:rPr>
              <a:t>Newest dates</a:t>
            </a:r>
            <a:endParaRPr lang="en-US" sz="1200" dirty="0"/>
          </a:p>
        </p:txBody>
      </p:sp>
      <p:sp>
        <p:nvSpPr>
          <p:cNvPr id="12" name="Pipeline card 1"/>
          <p:cNvSpPr/>
          <p:nvPr/>
        </p:nvSpPr>
        <p:spPr>
          <a:xfrm>
            <a:off x="54864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Pipeline icon 1"/>
          <p:cNvSpPr/>
          <p:nvPr/>
        </p:nvSpPr>
        <p:spPr>
          <a:xfrm>
            <a:off x="82296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Pipelin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9381" y="3869741"/>
            <a:ext cx="307238" cy="307238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8229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Time-based split</a:t>
            </a:r>
            <a:endParaRPr lang="en-US" sz="180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Split strictly on date so the model never sees the future during training.</a:t>
            </a:r>
            <a:endParaRPr lang="en-US" sz="1400" dirty="0"/>
          </a:p>
        </p:txBody>
      </p:sp>
      <p:sp>
        <p:nvSpPr>
          <p:cNvPr id="17" name="Pipeline card 2"/>
          <p:cNvSpPr/>
          <p:nvPr/>
        </p:nvSpPr>
        <p:spPr>
          <a:xfrm>
            <a:off x="429768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Pipeline icon 2"/>
          <p:cNvSpPr/>
          <p:nvPr/>
        </p:nvSpPr>
        <p:spPr>
          <a:xfrm>
            <a:off x="457200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9" name="Pipelin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38421" y="3869741"/>
            <a:ext cx="307238" cy="307238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45720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Fit on train only</a:t>
            </a:r>
            <a:endParaRPr lang="en-US" sz="1800" dirty="0"/>
          </a:p>
        </p:txBody>
      </p:sp>
      <p:sp>
        <p:nvSpPr>
          <p:cNvPr id="21" name="Text 17"/>
          <p:cNvSpPr txBox="1"/>
          <p:nvPr/>
        </p:nvSpPr>
        <p:spPr>
          <a:xfrm>
            <a:off x="457200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OneHotEncoder and MinMaxScaler learn from the training partition alone.</a:t>
            </a:r>
            <a:endParaRPr lang="en-US" sz="1400" dirty="0"/>
          </a:p>
        </p:txBody>
      </p:sp>
      <p:sp>
        <p:nvSpPr>
          <p:cNvPr id="22" name="Pipeline card 3"/>
          <p:cNvSpPr/>
          <p:nvPr/>
        </p:nvSpPr>
        <p:spPr>
          <a:xfrm>
            <a:off x="8046720" y="3474720"/>
            <a:ext cx="3566160" cy="246888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Pipeline icon 3"/>
          <p:cNvSpPr/>
          <p:nvPr/>
        </p:nvSpPr>
        <p:spPr>
          <a:xfrm>
            <a:off x="8321040" y="370332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4" name="Pipelin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7461" y="3869741"/>
            <a:ext cx="307238" cy="30723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83210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Export artifacts</a:t>
            </a:r>
            <a:endParaRPr lang="en-US" sz="1800" dirty="0"/>
          </a:p>
        </p:txBody>
      </p:sp>
      <p:sp>
        <p:nvSpPr>
          <p:cNvPr id="26" name="Text 21"/>
          <p:cNvSpPr txBox="1"/>
          <p:nvPr/>
        </p:nvSpPr>
        <p:spPr>
          <a:xfrm>
            <a:off x="8321040" y="493776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demand_predictor.pth, preprocessor.pkl and metrics.json for the API.</a:t>
            </a:r>
            <a:endParaRPr lang="en-US" sz="140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2 · DEEP LEARNING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tx2"/>
                </a:solidFill>
              </a:rPr>
              <a:t>Presenter · M </a:t>
            </a:r>
            <a:r>
              <a:rPr lang="en-US" sz="1100" b="1" dirty="0" err="1">
                <a:solidFill>
                  <a:schemeClr val="tx2"/>
                </a:solidFill>
              </a:rPr>
              <a:t>Uvaram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Model evaluation across slices</a:t>
            </a:r>
            <a:endParaRPr lang="en-US" sz="3400" dirty="0"/>
          </a:p>
        </p:txBody>
      </p:sp>
      <p:sp>
        <p:nvSpPr>
          <p:cNvPr id="6" name="Metric card MAE"/>
          <p:cNvSpPr/>
          <p:nvPr/>
        </p:nvSpPr>
        <p:spPr>
          <a:xfrm>
            <a:off x="54864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82296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MAE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225.8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Average error in passengers (~226 pax)</a:t>
            </a:r>
            <a:endParaRPr lang="en-US" sz="1300" dirty="0"/>
          </a:p>
        </p:txBody>
      </p:sp>
      <p:sp>
        <p:nvSpPr>
          <p:cNvPr id="10" name="Metric card RMSE"/>
          <p:cNvSpPr/>
          <p:nvPr/>
        </p:nvSpPr>
        <p:spPr>
          <a:xfrm>
            <a:off x="429768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457200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RMSE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519.3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Penalises large misses more heavily</a:t>
            </a:r>
            <a:endParaRPr lang="en-US" sz="1300" dirty="0"/>
          </a:p>
        </p:txBody>
      </p:sp>
      <p:sp>
        <p:nvSpPr>
          <p:cNvPr id="14" name="Metric card R²"/>
          <p:cNvSpPr/>
          <p:nvPr/>
        </p:nvSpPr>
        <p:spPr>
          <a:xfrm>
            <a:off x="8046720" y="1828800"/>
            <a:ext cx="3566160" cy="1828800"/>
          </a:xfrm>
          <a:prstGeom prst="roundRect">
            <a:avLst>
              <a:gd name="adj" fmla="val 6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321040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chemeClr val="accent2"/>
                </a:solidFill>
              </a:rPr>
              <a:t>R²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23774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bg1"/>
                </a:solidFill>
              </a:rPr>
              <a:t>0.33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1089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33.1% of demand variance explained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931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chemeClr val="tx2"/>
                </a:solidFill>
              </a:rPr>
              <a:t>Overall results on 158,622 held-out test trips (metrics.json)</a:t>
            </a:r>
            <a:endParaRPr lang="en-US" sz="1600" dirty="0"/>
          </a:p>
        </p:txBody>
      </p:sp>
      <p:sp>
        <p:nvSpPr>
          <p:cNvPr id="19" name="Slice card 1"/>
          <p:cNvSpPr/>
          <p:nvPr/>
        </p:nvSpPr>
        <p:spPr>
          <a:xfrm>
            <a:off x="54864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lice icon 1"/>
          <p:cNvSpPr/>
          <p:nvPr/>
        </p:nvSpPr>
        <p:spPr>
          <a:xfrm>
            <a:off x="77724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Slic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4806086"/>
            <a:ext cx="263347" cy="263347"/>
          </a:xfrm>
          <a:prstGeom prst="rect">
            <a:avLst/>
          </a:prstGeom>
        </p:spPr>
      </p:pic>
      <p:sp>
        <p:nvSpPr>
          <p:cNvPr id="22" name="Text 19"/>
          <p:cNvSpPr txBox="1"/>
          <p:nvPr/>
        </p:nvSpPr>
        <p:spPr>
          <a:xfrm>
            <a:off x="146304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Stops</a:t>
            </a:r>
            <a:endParaRPr lang="en-US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8 Galle Road hubs</a:t>
            </a:r>
            <a:endParaRPr lang="en-US" sz="1400" dirty="0"/>
          </a:p>
        </p:txBody>
      </p:sp>
      <p:sp>
        <p:nvSpPr>
          <p:cNvPr id="24" name="Slice card 2"/>
          <p:cNvSpPr/>
          <p:nvPr/>
        </p:nvSpPr>
        <p:spPr>
          <a:xfrm>
            <a:off x="338328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lice icon 2"/>
          <p:cNvSpPr/>
          <p:nvPr/>
        </p:nvSpPr>
        <p:spPr>
          <a:xfrm>
            <a:off x="361188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Slic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4526" y="4806086"/>
            <a:ext cx="263347" cy="263347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429768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Peak vs off-peak</a:t>
            </a:r>
            <a:endParaRPr lang="en-US" sz="1500" dirty="0"/>
          </a:p>
        </p:txBody>
      </p:sp>
      <p:sp>
        <p:nvSpPr>
          <p:cNvPr id="28" name="Text 24"/>
          <p:cNvSpPr txBox="1"/>
          <p:nvPr/>
        </p:nvSpPr>
        <p:spPr>
          <a:xfrm>
            <a:off x="361188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Rush-hour consistency</a:t>
            </a:r>
            <a:endParaRPr lang="en-US" sz="1400" dirty="0"/>
          </a:p>
        </p:txBody>
      </p:sp>
      <p:sp>
        <p:nvSpPr>
          <p:cNvPr id="29" name="Slice card 3"/>
          <p:cNvSpPr/>
          <p:nvPr/>
        </p:nvSpPr>
        <p:spPr>
          <a:xfrm>
            <a:off x="621792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lice icon 3"/>
          <p:cNvSpPr/>
          <p:nvPr/>
        </p:nvSpPr>
        <p:spPr>
          <a:xfrm>
            <a:off x="644652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Slic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9166" y="4806086"/>
            <a:ext cx="263347" cy="263347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713232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Rainy vs clear</a:t>
            </a:r>
            <a:endParaRPr lang="en-US" sz="1500" dirty="0"/>
          </a:p>
        </p:txBody>
      </p:sp>
      <p:sp>
        <p:nvSpPr>
          <p:cNvPr id="33" name="Text 28"/>
          <p:cNvSpPr txBox="1"/>
          <p:nvPr/>
        </p:nvSpPr>
        <p:spPr>
          <a:xfrm>
            <a:off x="644652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Weather robustness</a:t>
            </a:r>
            <a:endParaRPr lang="en-US" sz="1400" dirty="0"/>
          </a:p>
        </p:txBody>
      </p:sp>
      <p:sp>
        <p:nvSpPr>
          <p:cNvPr id="34" name="Slice card 4"/>
          <p:cNvSpPr/>
          <p:nvPr/>
        </p:nvSpPr>
        <p:spPr>
          <a:xfrm>
            <a:off x="9052560" y="4434840"/>
            <a:ext cx="2606040" cy="1508760"/>
          </a:xfrm>
          <a:prstGeom prst="roundRect">
            <a:avLst>
              <a:gd name="adj" fmla="val 7273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lice icon 4"/>
          <p:cNvSpPr/>
          <p:nvPr/>
        </p:nvSpPr>
        <p:spPr>
          <a:xfrm>
            <a:off x="9281160" y="466344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6" name="Slice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3806" y="4806086"/>
            <a:ext cx="263347" cy="263347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9966960" y="4663440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Holiday vs normal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9281160" y="5440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Calendar effects</a:t>
            </a:r>
            <a:endParaRPr lang="en-US" sz="14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DISPATCH OPTIMIZATION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From predictions to dispatch headway</a:t>
            </a:r>
            <a:endParaRPr lang="en-US" sz="3400" dirty="0"/>
          </a:p>
        </p:txBody>
      </p:sp>
      <p:sp>
        <p:nvSpPr>
          <p:cNvPr id="6" name="Formula card 1"/>
          <p:cNvSpPr/>
          <p:nvPr/>
        </p:nvSpPr>
        <p:spPr>
          <a:xfrm>
            <a:off x="54864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82296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2296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46304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Find the bottleneck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91440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= max(predictions)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Highest predicted stop demand sets the pace.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986784" y="3081528"/>
            <a:ext cx="347472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Formula card 2"/>
          <p:cNvSpPr/>
          <p:nvPr/>
        </p:nvSpPr>
        <p:spPr>
          <a:xfrm>
            <a:off x="438912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66344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466344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530352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Size the fleet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66344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5488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buses = max(1,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ceil(peak / 80))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Each bus carries 80 passengers.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827264" y="3081528"/>
            <a:ext cx="347472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Formula card 3"/>
          <p:cNvSpPr/>
          <p:nvPr/>
        </p:nvSpPr>
        <p:spPr>
          <a:xfrm>
            <a:off x="8229600" y="1828800"/>
            <a:ext cx="3383280" cy="27432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503920" y="20574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503920" y="20574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14400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Set the headway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8503920" y="2788920"/>
            <a:ext cx="2834640" cy="960120"/>
          </a:xfrm>
          <a:prstGeom prst="roundRect">
            <a:avLst>
              <a:gd name="adj" fmla="val 7619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8595360" y="278892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headway = clamp(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round(60 / buses),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3, 30)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388620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Kept between 3 and 30 minutes.</a:t>
            </a:r>
            <a:endParaRPr lang="en-US" sz="1400" dirty="0"/>
          </a:p>
        </p:txBody>
      </p:sp>
      <p:sp>
        <p:nvSpPr>
          <p:cNvPr id="29" name="Worked example band"/>
          <p:cNvSpPr/>
          <p:nvPr/>
        </p:nvSpPr>
        <p:spPr>
          <a:xfrm>
            <a:off x="548640" y="4892040"/>
            <a:ext cx="11064240" cy="1097280"/>
          </a:xfrm>
          <a:prstGeom prst="roundRect">
            <a:avLst>
              <a:gd name="adj" fmla="val 10000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Example icon"/>
          <p:cNvSpPr/>
          <p:nvPr/>
        </p:nvSpPr>
        <p:spPr>
          <a:xfrm>
            <a:off x="868680" y="516636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1" name="Example icon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326" y="5309006"/>
            <a:ext cx="263347" cy="263347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1645920" y="5029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2"/>
                </a:solidFill>
              </a:rPr>
              <a:t>Worked example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1645920" y="53492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bg1"/>
                </a:solidFill>
              </a:rPr>
              <a:t>Peak 400 pax  →  ceil(400 / 80) = 5 buses  →  round(60 / 5) = 12 min headway</a:t>
            </a:r>
            <a:endParaRPr lang="en-US" sz="1800" dirty="0"/>
          </a:p>
        </p:txBody>
      </p:sp>
      <p:sp>
        <p:nvSpPr>
          <p:cNvPr id="3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DISPATCH OPTIMIZATION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Congestion-aware corridor ETA</a:t>
            </a:r>
            <a:endParaRPr lang="en-US" sz="3400" dirty="0"/>
          </a:p>
        </p:txBody>
      </p:sp>
      <p:sp>
        <p:nvSpPr>
          <p:cNvPr id="6" name="ETA term 1"/>
          <p:cNvSpPr/>
          <p:nvPr/>
        </p:nvSpPr>
        <p:spPr>
          <a:xfrm>
            <a:off x="59436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ETA icon 1"/>
          <p:cNvSpPr/>
          <p:nvPr/>
        </p:nvSpPr>
        <p:spPr>
          <a:xfrm>
            <a:off x="86868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ETA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3214" y="221193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6868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Baseline travel time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6868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Free-flow time for the corridor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269748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×</a:t>
            </a:r>
            <a:endParaRPr lang="en-US" sz="3600" dirty="0"/>
          </a:p>
        </p:txBody>
      </p:sp>
      <p:sp>
        <p:nvSpPr>
          <p:cNvPr id="12" name="ETA term 2"/>
          <p:cNvSpPr/>
          <p:nvPr/>
        </p:nvSpPr>
        <p:spPr>
          <a:xfrm>
            <a:off x="352044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ETA icon 2"/>
          <p:cNvSpPr/>
          <p:nvPr/>
        </p:nvSpPr>
        <p:spPr>
          <a:xfrm>
            <a:off x="379476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ETA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49294" y="2211934"/>
            <a:ext cx="285293" cy="285293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79476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Peak congestion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79476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Multiplier applied in rush hours</a:t>
            </a:r>
            <a:endParaRPr lang="en-US" sz="1200" dirty="0"/>
          </a:p>
        </p:txBody>
      </p:sp>
      <p:sp>
        <p:nvSpPr>
          <p:cNvPr id="17" name="Text 13"/>
          <p:cNvSpPr txBox="1"/>
          <p:nvPr/>
        </p:nvSpPr>
        <p:spPr>
          <a:xfrm>
            <a:off x="562356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+</a:t>
            </a:r>
            <a:endParaRPr lang="en-US" sz="3600" dirty="0"/>
          </a:p>
        </p:txBody>
      </p:sp>
      <p:sp>
        <p:nvSpPr>
          <p:cNvPr id="18" name="ETA term 3"/>
          <p:cNvSpPr/>
          <p:nvPr/>
        </p:nvSpPr>
        <p:spPr>
          <a:xfrm>
            <a:off x="644652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ETA icon 3"/>
          <p:cNvSpPr/>
          <p:nvPr/>
        </p:nvSpPr>
        <p:spPr>
          <a:xfrm>
            <a:off x="6720840" y="20574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ETA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75374" y="2211934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672084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tx2"/>
                </a:solidFill>
              </a:rPr>
              <a:t>Dwell delay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672084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4"/>
                </a:solidFill>
              </a:rPr>
              <a:t>0.05 × predicted passengers per stop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8549640" y="1828800"/>
            <a:ext cx="8229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chemeClr val="accent1"/>
                </a:solidFill>
              </a:rPr>
              <a:t>=</a:t>
            </a:r>
            <a:endParaRPr lang="en-US" sz="3600" dirty="0"/>
          </a:p>
        </p:txBody>
      </p:sp>
      <p:sp>
        <p:nvSpPr>
          <p:cNvPr id="24" name="ETA term 4"/>
          <p:cNvSpPr/>
          <p:nvPr/>
        </p:nvSpPr>
        <p:spPr>
          <a:xfrm>
            <a:off x="9372600" y="1828800"/>
            <a:ext cx="2103120" cy="2103120"/>
          </a:xfrm>
          <a:prstGeom prst="roundRect">
            <a:avLst>
              <a:gd name="adj" fmla="val 5217"/>
            </a:avLst>
          </a:prstGeom>
          <a:solidFill>
            <a:schemeClr val="tx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ETA icon 4"/>
          <p:cNvSpPr/>
          <p:nvPr/>
        </p:nvSpPr>
        <p:spPr>
          <a:xfrm>
            <a:off x="9646920" y="2057400"/>
            <a:ext cx="594360" cy="59436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ETA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01454" y="2211934"/>
            <a:ext cx="285293" cy="285293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9646920" y="2788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chemeClr val="bg1"/>
                </a:solidFill>
              </a:rPr>
              <a:t>Corridor ETA</a:t>
            </a:r>
            <a:endParaRPr lang="en-US" sz="1500" dirty="0"/>
          </a:p>
        </p:txBody>
      </p:sp>
      <p:sp>
        <p:nvSpPr>
          <p:cNvPr id="28" name="Text 22"/>
          <p:cNvSpPr txBox="1"/>
          <p:nvPr/>
        </p:nvSpPr>
        <p:spPr>
          <a:xfrm>
            <a:off x="9646920" y="32918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Realistic end-to-end travel time</a:t>
            </a:r>
            <a:endParaRPr lang="en-US" sz="1200" dirty="0"/>
          </a:p>
        </p:txBody>
      </p:sp>
      <p:sp>
        <p:nvSpPr>
          <p:cNvPr id="29" name="ETA note 1"/>
          <p:cNvSpPr/>
          <p:nvPr/>
        </p:nvSpPr>
        <p:spPr>
          <a:xfrm>
            <a:off x="548640" y="43434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4"/>
          <p:cNvSpPr txBox="1"/>
          <p:nvPr/>
        </p:nvSpPr>
        <p:spPr>
          <a:xfrm>
            <a:off x="82296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Why it matters</a:t>
            </a:r>
            <a:endParaRPr lang="en-US" sz="1800" dirty="0"/>
          </a:p>
        </p:txBody>
      </p:sp>
      <p:sp>
        <p:nvSpPr>
          <p:cNvPr id="31" name="Text 25"/>
          <p:cNvSpPr txBox="1"/>
          <p:nvPr/>
        </p:nvSpPr>
        <p:spPr>
          <a:xfrm>
            <a:off x="82296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Depot staff see a realistic travel time that reflects traffic and load, not a static timetable.</a:t>
            </a:r>
            <a:endParaRPr lang="en-US" sz="1400" dirty="0"/>
          </a:p>
        </p:txBody>
      </p:sp>
      <p:sp>
        <p:nvSpPr>
          <p:cNvPr id="32" name="ETA note 2"/>
          <p:cNvSpPr/>
          <p:nvPr/>
        </p:nvSpPr>
        <p:spPr>
          <a:xfrm>
            <a:off x="6172200" y="4343400"/>
            <a:ext cx="5440680" cy="1600200"/>
          </a:xfrm>
          <a:prstGeom prst="roundRect">
            <a:avLst>
              <a:gd name="adj" fmla="val 685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 txBox="1"/>
          <p:nvPr/>
        </p:nvSpPr>
        <p:spPr>
          <a:xfrm>
            <a:off x="6446520" y="452628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Load-aware dwell</a:t>
            </a:r>
            <a:endParaRPr lang="en-US" sz="1800" dirty="0"/>
          </a:p>
        </p:txBody>
      </p:sp>
      <p:sp>
        <p:nvSpPr>
          <p:cNvPr id="34" name="Text 28"/>
          <p:cNvSpPr txBox="1"/>
          <p:nvPr/>
        </p:nvSpPr>
        <p:spPr>
          <a:xfrm>
            <a:off x="6446520" y="49377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Busier stops add more dwell time, so predicted demand directly lengthens the corridor ETA.</a:t>
            </a:r>
            <a:endParaRPr lang="en-US" sz="1400" dirty="0"/>
          </a:p>
        </p:txBody>
      </p:sp>
      <p:sp>
        <p:nvSpPr>
          <p:cNvPr id="3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3 · BACKEND SERVICES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SNMRDS Arambepola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FastAPI backend with calendar enrichment</a:t>
            </a:r>
            <a:endParaRPr lang="en-US" sz="3400" dirty="0"/>
          </a:p>
        </p:txBody>
      </p:sp>
      <p:sp>
        <p:nvSpPr>
          <p:cNvPr id="6" name="Flow step 1"/>
          <p:cNvSpPr/>
          <p:nvPr/>
        </p:nvSpPr>
        <p:spPr>
          <a:xfrm>
            <a:off x="548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Flow icon 1"/>
          <p:cNvSpPr/>
          <p:nvPr/>
        </p:nvSpPr>
        <p:spPr>
          <a:xfrm>
            <a:off x="1188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Flow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1366" y="2154326"/>
            <a:ext cx="263347" cy="26334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40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Next.js dashboard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Sends date, time, direction, scenario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2423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Flow step 2"/>
          <p:cNvSpPr/>
          <p:nvPr/>
        </p:nvSpPr>
        <p:spPr>
          <a:xfrm>
            <a:off x="2834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Flow icon 2"/>
          <p:cNvSpPr/>
          <p:nvPr/>
        </p:nvSpPr>
        <p:spPr>
          <a:xfrm>
            <a:off x="3474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Flow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7366" y="2154326"/>
            <a:ext cx="263347" cy="263347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2926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FastAPI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2926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main.py REST service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709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Flow step 3"/>
          <p:cNvSpPr/>
          <p:nvPr/>
        </p:nvSpPr>
        <p:spPr>
          <a:xfrm>
            <a:off x="5120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Flow icon 3"/>
          <p:cNvSpPr/>
          <p:nvPr/>
        </p:nvSpPr>
        <p:spPr>
          <a:xfrm>
            <a:off x="5760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Flow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3366" y="2154326"/>
            <a:ext cx="263347" cy="263347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5212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enrich_calendar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5212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Day of week, school rush, LK holiday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995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Flow step 4"/>
          <p:cNvSpPr/>
          <p:nvPr/>
        </p:nvSpPr>
        <p:spPr>
          <a:xfrm>
            <a:off x="7406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Flow icon 4"/>
          <p:cNvSpPr/>
          <p:nvPr/>
        </p:nvSpPr>
        <p:spPr>
          <a:xfrm>
            <a:off x="8046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Flow icon 4 icon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89366" y="2154326"/>
            <a:ext cx="263347" cy="26334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7498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PyTorch model</a:t>
            </a:r>
            <a:endParaRPr lang="en-US" sz="1400" dirty="0"/>
          </a:p>
        </p:txBody>
      </p:sp>
      <p:sp>
        <p:nvSpPr>
          <p:cNvPr id="28" name="Text 22"/>
          <p:cNvSpPr txBox="1"/>
          <p:nvPr/>
        </p:nvSpPr>
        <p:spPr>
          <a:xfrm>
            <a:off x="7498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preprocessor.pkl + demand_predictor.pth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9281160" y="2743200"/>
            <a:ext cx="365760" cy="274320"/>
          </a:xfrm>
          <a:prstGeom prst="rightArrow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Flow step 5"/>
          <p:cNvSpPr/>
          <p:nvPr/>
        </p:nvSpPr>
        <p:spPr>
          <a:xfrm>
            <a:off x="9692640" y="1828800"/>
            <a:ext cx="1828800" cy="2103120"/>
          </a:xfrm>
          <a:prstGeom prst="roundRect">
            <a:avLst>
              <a:gd name="adj" fmla="val 6000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Flow icon 5"/>
          <p:cNvSpPr/>
          <p:nvPr/>
        </p:nvSpPr>
        <p:spPr>
          <a:xfrm>
            <a:off x="10332720" y="201168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2" name="Flow icon 5 icon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75366" y="2154326"/>
            <a:ext cx="263347" cy="263347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9784080" y="26974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400" b="1" dirty="0">
                <a:solidFill>
                  <a:schemeClr val="tx2"/>
                </a:solidFill>
              </a:rPr>
              <a:t>dispatch.py</a:t>
            </a:r>
            <a:endParaRPr lang="en-US" sz="1400" dirty="0"/>
          </a:p>
        </p:txBody>
      </p:sp>
      <p:sp>
        <p:nvSpPr>
          <p:cNvPr id="34" name="Text 27"/>
          <p:cNvSpPr txBox="1"/>
          <p:nvPr/>
        </p:nvSpPr>
        <p:spPr>
          <a:xfrm>
            <a:off x="9784080" y="30632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accent4"/>
                </a:solidFill>
              </a:rPr>
              <a:t>Headway and ETA</a:t>
            </a:r>
            <a:endParaRPr lang="en-US" sz="1200" dirty="0"/>
          </a:p>
        </p:txBody>
      </p:sp>
      <p:sp>
        <p:nvSpPr>
          <p:cNvPr id="35" name="Endpoint card /predict"/>
          <p:cNvSpPr/>
          <p:nvPr/>
        </p:nvSpPr>
        <p:spPr>
          <a:xfrm>
            <a:off x="54864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29"/>
          <p:cNvSpPr txBox="1"/>
          <p:nvPr/>
        </p:nvSpPr>
        <p:spPr>
          <a:xfrm>
            <a:off x="82296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/predict</a:t>
            </a:r>
            <a:endParaRPr lang="en-US" sz="2000" dirty="0"/>
          </a:p>
        </p:txBody>
      </p:sp>
      <p:sp>
        <p:nvSpPr>
          <p:cNvPr id="37" name="Text 30"/>
          <p:cNvSpPr txBox="1"/>
          <p:nvPr/>
        </p:nvSpPr>
        <p:spPr>
          <a:xfrm>
            <a:off x="82296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Stop demand, recommended headway and ETA for a given date and time.</a:t>
            </a:r>
            <a:endParaRPr lang="en-US" sz="1400" dirty="0"/>
          </a:p>
        </p:txBody>
      </p:sp>
      <p:sp>
        <p:nvSpPr>
          <p:cNvPr id="38" name="Endpoint card /metrics"/>
          <p:cNvSpPr/>
          <p:nvPr/>
        </p:nvSpPr>
        <p:spPr>
          <a:xfrm>
            <a:off x="429768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Text 32"/>
          <p:cNvSpPr txBox="1"/>
          <p:nvPr/>
        </p:nvSpPr>
        <p:spPr>
          <a:xfrm>
            <a:off x="457200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/metrics</a:t>
            </a:r>
            <a:endParaRPr lang="en-US" sz="2000" dirty="0"/>
          </a:p>
        </p:txBody>
      </p:sp>
      <p:sp>
        <p:nvSpPr>
          <p:cNvPr id="40" name="Text 33"/>
          <p:cNvSpPr txBox="1"/>
          <p:nvPr/>
        </p:nvSpPr>
        <p:spPr>
          <a:xfrm>
            <a:off x="457200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Serves the model evaluation results from metrics.json.</a:t>
            </a:r>
            <a:endParaRPr lang="en-US" sz="1400" dirty="0"/>
          </a:p>
        </p:txBody>
      </p:sp>
      <p:sp>
        <p:nvSpPr>
          <p:cNvPr id="41" name="Endpoint card /health"/>
          <p:cNvSpPr/>
          <p:nvPr/>
        </p:nvSpPr>
        <p:spPr>
          <a:xfrm>
            <a:off x="8046720" y="4343400"/>
            <a:ext cx="3566160" cy="1600200"/>
          </a:xfrm>
          <a:prstGeom prst="roundRect">
            <a:avLst>
              <a:gd name="adj" fmla="val 6857"/>
            </a:avLst>
          </a:prstGeom>
          <a:solidFill>
            <a:schemeClr val="tx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35"/>
          <p:cNvSpPr txBox="1"/>
          <p:nvPr/>
        </p:nvSpPr>
        <p:spPr>
          <a:xfrm>
            <a:off x="8321040" y="45262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/health</a:t>
            </a:r>
            <a:endParaRPr lang="en-US" sz="2000" dirty="0"/>
          </a:p>
        </p:txBody>
      </p:sp>
      <p:sp>
        <p:nvSpPr>
          <p:cNvPr id="43" name="Text 36"/>
          <p:cNvSpPr txBox="1"/>
          <p:nvPr/>
        </p:nvSpPr>
        <p:spPr>
          <a:xfrm>
            <a:off x="8321040" y="502920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bg1"/>
                </a:solidFill>
              </a:rPr>
              <a:t>Quick service status check for the dashboard and demos.</a:t>
            </a:r>
            <a:endParaRPr lang="en-US" sz="1400" dirty="0"/>
          </a:p>
        </p:txBody>
      </p:sp>
      <p:sp>
        <p:nvSpPr>
          <p:cNvPr id="44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4 · DECISION SUPPORT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JGJB Gamage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Depot manager dashboard</a:t>
            </a:r>
            <a:endParaRPr lang="en-US" sz="3400" dirty="0"/>
          </a:p>
        </p:txBody>
      </p:sp>
      <p:sp>
        <p:nvSpPr>
          <p:cNvPr id="6" name="Dashboard mockup panel"/>
          <p:cNvSpPr/>
          <p:nvPr/>
        </p:nvSpPr>
        <p:spPr>
          <a:xfrm>
            <a:off x="548640" y="1828800"/>
            <a:ext cx="7223760" cy="4206240"/>
          </a:xfrm>
          <a:prstGeom prst="roundRect">
            <a:avLst>
              <a:gd name="adj" fmla="val 260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KPI tile 1"/>
          <p:cNvSpPr/>
          <p:nvPr/>
        </p:nvSpPr>
        <p:spPr>
          <a:xfrm>
            <a:off x="704088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 txBox="1"/>
          <p:nvPr/>
        </p:nvSpPr>
        <p:spPr>
          <a:xfrm>
            <a:off x="841248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HEADWAY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841248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4 min</a:t>
            </a:r>
            <a:endParaRPr lang="en-US" sz="1800" dirty="0"/>
          </a:p>
        </p:txBody>
      </p:sp>
      <p:sp>
        <p:nvSpPr>
          <p:cNvPr id="10" name="KPI tile 2"/>
          <p:cNvSpPr/>
          <p:nvPr/>
        </p:nvSpPr>
        <p:spPr>
          <a:xfrm>
            <a:off x="2468880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2606040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CORRIDOR ETA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606040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58 min</a:t>
            </a:r>
            <a:endParaRPr lang="en-US" sz="1800" dirty="0"/>
          </a:p>
        </p:txBody>
      </p:sp>
      <p:sp>
        <p:nvSpPr>
          <p:cNvPr id="13" name="KPI tile 3"/>
          <p:cNvSpPr/>
          <p:nvPr/>
        </p:nvSpPr>
        <p:spPr>
          <a:xfrm>
            <a:off x="4233672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 txBox="1"/>
          <p:nvPr/>
        </p:nvSpPr>
        <p:spPr>
          <a:xfrm>
            <a:off x="4370832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BOTTLENECK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370832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Wellawatta</a:t>
            </a:r>
            <a:endParaRPr lang="en-US" sz="1800" dirty="0"/>
          </a:p>
        </p:txBody>
      </p:sp>
      <p:sp>
        <p:nvSpPr>
          <p:cNvPr id="16" name="KPI tile 4"/>
          <p:cNvSpPr/>
          <p:nvPr/>
        </p:nvSpPr>
        <p:spPr>
          <a:xfrm>
            <a:off x="5998464" y="2011680"/>
            <a:ext cx="1627632" cy="914400"/>
          </a:xfrm>
          <a:prstGeom prst="roundRect">
            <a:avLst>
              <a:gd name="adj" fmla="val 12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6135624" y="212140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TOTAL PAX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135624" y="24231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chemeClr val="tx2"/>
                </a:solidFill>
              </a:rPr>
              <a:t>1,840</a:t>
            </a:r>
            <a:endParaRPr lang="en-US" sz="1800" dirty="0"/>
          </a:p>
        </p:txBody>
      </p:sp>
      <p:sp>
        <p:nvSpPr>
          <p:cNvPr id="19" name="Corridor rail mock"/>
          <p:cNvSpPr/>
          <p:nvPr/>
        </p:nvSpPr>
        <p:spPr>
          <a:xfrm>
            <a:off x="704088" y="3108960"/>
            <a:ext cx="6922008" cy="2788920"/>
          </a:xfrm>
          <a:prstGeom prst="roundRect">
            <a:avLst>
              <a:gd name="adj" fmla="val 3934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 txBox="1"/>
          <p:nvPr/>
        </p:nvSpPr>
        <p:spPr>
          <a:xfrm>
            <a:off x="886968" y="32186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chemeClr val="tx2"/>
                </a:solidFill>
              </a:rPr>
              <a:t>Corridor rail</a:t>
            </a:r>
            <a:endParaRPr lang="en-US" sz="1200" dirty="0"/>
          </a:p>
        </p:txBody>
      </p:sp>
      <p:sp>
        <p:nvSpPr>
          <p:cNvPr id="21" name="Load bar PAN"/>
          <p:cNvSpPr/>
          <p:nvPr/>
        </p:nvSpPr>
        <p:spPr>
          <a:xfrm>
            <a:off x="1014984" y="4617720"/>
            <a:ext cx="502920" cy="5486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886968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PAN</a:t>
            </a:r>
            <a:endParaRPr lang="en-US" sz="1100" dirty="0"/>
          </a:p>
        </p:txBody>
      </p:sp>
      <p:sp>
        <p:nvSpPr>
          <p:cNvPr id="23" name="Load bar MOR"/>
          <p:cNvSpPr/>
          <p:nvPr/>
        </p:nvSpPr>
        <p:spPr>
          <a:xfrm>
            <a:off x="1834286" y="4343400"/>
            <a:ext cx="502920" cy="8229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1706270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MOR</a:t>
            </a:r>
            <a:endParaRPr lang="en-US" sz="1100" dirty="0"/>
          </a:p>
        </p:txBody>
      </p:sp>
      <p:sp>
        <p:nvSpPr>
          <p:cNvPr id="25" name="Load bar MTL"/>
          <p:cNvSpPr/>
          <p:nvPr/>
        </p:nvSpPr>
        <p:spPr>
          <a:xfrm>
            <a:off x="2653589" y="4114800"/>
            <a:ext cx="502920" cy="10515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 txBox="1"/>
          <p:nvPr/>
        </p:nvSpPr>
        <p:spPr>
          <a:xfrm>
            <a:off x="2525573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MTL</a:t>
            </a:r>
            <a:endParaRPr lang="en-US" sz="1100" dirty="0"/>
          </a:p>
        </p:txBody>
      </p:sp>
      <p:sp>
        <p:nvSpPr>
          <p:cNvPr id="27" name="Load bar DEH"/>
          <p:cNvSpPr/>
          <p:nvPr/>
        </p:nvSpPr>
        <p:spPr>
          <a:xfrm>
            <a:off x="3472891" y="3931920"/>
            <a:ext cx="502920" cy="123444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3344875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DEH</a:t>
            </a:r>
            <a:endParaRPr lang="en-US" sz="1100" dirty="0"/>
          </a:p>
        </p:txBody>
      </p:sp>
      <p:sp>
        <p:nvSpPr>
          <p:cNvPr id="29" name="Load bar WEL"/>
          <p:cNvSpPr/>
          <p:nvPr/>
        </p:nvSpPr>
        <p:spPr>
          <a:xfrm>
            <a:off x="4292194" y="3611880"/>
            <a:ext cx="502920" cy="1554480"/>
          </a:xfrm>
          <a:prstGeom prst="rect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 txBox="1"/>
          <p:nvPr/>
        </p:nvSpPr>
        <p:spPr>
          <a:xfrm>
            <a:off x="4164178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WEL</a:t>
            </a:r>
            <a:endParaRPr lang="en-US" sz="1100" dirty="0"/>
          </a:p>
        </p:txBody>
      </p:sp>
      <p:sp>
        <p:nvSpPr>
          <p:cNvPr id="31" name="Load bar BAM"/>
          <p:cNvSpPr/>
          <p:nvPr/>
        </p:nvSpPr>
        <p:spPr>
          <a:xfrm>
            <a:off x="5111496" y="3886200"/>
            <a:ext cx="502920" cy="128016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4983480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BAM</a:t>
            </a:r>
            <a:endParaRPr lang="en-US" sz="1100" dirty="0"/>
          </a:p>
        </p:txBody>
      </p:sp>
      <p:sp>
        <p:nvSpPr>
          <p:cNvPr id="33" name="Load bar KOL"/>
          <p:cNvSpPr/>
          <p:nvPr/>
        </p:nvSpPr>
        <p:spPr>
          <a:xfrm>
            <a:off x="5930798" y="4251960"/>
            <a:ext cx="502920" cy="91440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 txBox="1"/>
          <p:nvPr/>
        </p:nvSpPr>
        <p:spPr>
          <a:xfrm>
            <a:off x="5802782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KOL</a:t>
            </a:r>
            <a:endParaRPr lang="en-US" sz="1100" dirty="0"/>
          </a:p>
        </p:txBody>
      </p:sp>
      <p:sp>
        <p:nvSpPr>
          <p:cNvPr id="35" name="Load bar PET"/>
          <p:cNvSpPr/>
          <p:nvPr/>
        </p:nvSpPr>
        <p:spPr>
          <a:xfrm>
            <a:off x="6750101" y="4434840"/>
            <a:ext cx="502920" cy="731520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 txBox="1"/>
          <p:nvPr/>
        </p:nvSpPr>
        <p:spPr>
          <a:xfrm>
            <a:off x="6622085" y="5230368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dirty="0">
                <a:solidFill>
                  <a:schemeClr val="tx2"/>
                </a:solidFill>
              </a:rPr>
              <a:t>PET</a:t>
            </a:r>
            <a:endParaRPr lang="en-US" sz="1100" dirty="0"/>
          </a:p>
        </p:txBody>
      </p:sp>
      <p:sp>
        <p:nvSpPr>
          <p:cNvPr id="37" name="High demand badge"/>
          <p:cNvSpPr/>
          <p:nvPr/>
        </p:nvSpPr>
        <p:spPr>
          <a:xfrm>
            <a:off x="3794760" y="3291840"/>
            <a:ext cx="1188720" cy="256032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 txBox="1"/>
          <p:nvPr/>
        </p:nvSpPr>
        <p:spPr>
          <a:xfrm>
            <a:off x="3794760" y="32918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tx2"/>
                </a:solidFill>
              </a:rPr>
              <a:t>High demand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0807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i="1" dirty="0">
                <a:solidFill>
                  <a:schemeClr val="accent4"/>
                </a:solidFill>
              </a:rPr>
              <a:t>Illustrative layout</a:t>
            </a:r>
            <a:endParaRPr lang="en-US" sz="1000" dirty="0"/>
          </a:p>
        </p:txBody>
      </p:sp>
      <p:sp>
        <p:nvSpPr>
          <p:cNvPr id="40" name="Feature icon 1"/>
          <p:cNvSpPr/>
          <p:nvPr/>
        </p:nvSpPr>
        <p:spPr>
          <a:xfrm>
            <a:off x="8138160" y="18288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1" name="Feature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694" y="1983334"/>
            <a:ext cx="285293" cy="285293"/>
          </a:xfrm>
          <a:prstGeom prst="rect">
            <a:avLst/>
          </a:prstGeom>
        </p:spPr>
      </p:pic>
      <p:sp>
        <p:nvSpPr>
          <p:cNvPr id="42" name="Text 39"/>
          <p:cNvSpPr txBox="1"/>
          <p:nvPr/>
        </p:nvSpPr>
        <p:spPr>
          <a:xfrm>
            <a:off x="8915400" y="18105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KPI panel</a:t>
            </a:r>
            <a:endParaRPr lang="en-US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8915400" y="217627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Headway, corridor ETA, bottleneck stop and total passengers at a glance.</a:t>
            </a:r>
            <a:endParaRPr lang="en-US" sz="1400" dirty="0"/>
          </a:p>
        </p:txBody>
      </p:sp>
      <p:sp>
        <p:nvSpPr>
          <p:cNvPr id="44" name="Feature icon 2"/>
          <p:cNvSpPr/>
          <p:nvPr/>
        </p:nvSpPr>
        <p:spPr>
          <a:xfrm>
            <a:off x="8138160" y="32918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5" name="Feature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2694" y="3446374"/>
            <a:ext cx="285293" cy="285293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8915400" y="32735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Corridor rail</a:t>
            </a:r>
            <a:endParaRPr lang="en-US" sz="1700" dirty="0"/>
          </a:p>
        </p:txBody>
      </p:sp>
      <p:sp>
        <p:nvSpPr>
          <p:cNvPr id="47" name="Text 43"/>
          <p:cNvSpPr txBox="1"/>
          <p:nvPr/>
        </p:nvSpPr>
        <p:spPr>
          <a:xfrm>
            <a:off x="8915400" y="363931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All 8 stops with live load bars, counts and high-demand badges.</a:t>
            </a:r>
            <a:endParaRPr lang="en-US" sz="1400" dirty="0"/>
          </a:p>
        </p:txBody>
      </p:sp>
      <p:sp>
        <p:nvSpPr>
          <p:cNvPr id="48" name="Feature icon 3"/>
          <p:cNvSpPr/>
          <p:nvPr/>
        </p:nvSpPr>
        <p:spPr>
          <a:xfrm>
            <a:off x="8138160" y="475488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49" name="Feature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2694" y="4909414"/>
            <a:ext cx="285293" cy="285293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8915400" y="47365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chemeClr val="tx2"/>
                </a:solidFill>
              </a:rPr>
              <a:t>Scenario controls</a:t>
            </a:r>
            <a:endParaRPr lang="en-US" sz="1700" dirty="0"/>
          </a:p>
        </p:txBody>
      </p:sp>
      <p:sp>
        <p:nvSpPr>
          <p:cNvPr id="51" name="Text 46"/>
          <p:cNvSpPr txBox="1"/>
          <p:nvPr/>
        </p:nvSpPr>
        <p:spPr>
          <a:xfrm>
            <a:off x="8915400" y="5102352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Rain, school vacation, holiday and event rush, plus live Open-Meteo weather.</a:t>
            </a:r>
            <a:endParaRPr lang="en-US" sz="1400" dirty="0"/>
          </a:p>
        </p:txBody>
      </p:sp>
      <p:sp>
        <p:nvSpPr>
          <p:cNvPr id="5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PART 4 · LIVE DEMONSTRATION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100" b="1" dirty="0">
                <a:solidFill>
                  <a:schemeClr val="bg1"/>
                </a:solidFill>
              </a:rPr>
              <a:t>Presenter · M </a:t>
            </a:r>
            <a:r>
              <a:rPr lang="en-US" sz="1100" b="1" dirty="0" err="1">
                <a:solidFill>
                  <a:schemeClr val="bg1"/>
                </a:solidFill>
              </a:rPr>
              <a:t>Uvaram</a:t>
            </a:r>
            <a:endParaRPr lang="en-US" sz="1100" dirty="0">
              <a:solidFill>
                <a:schemeClr val="bg1"/>
              </a:solidFill>
            </a:endParaRPr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bg1"/>
                </a:solidFill>
              </a:rPr>
              <a:t>Live demonstration</a:t>
            </a:r>
            <a:endParaRPr lang="en-US" sz="3400" dirty="0"/>
          </a:p>
        </p:txBody>
      </p:sp>
      <p:sp>
        <p:nvSpPr>
          <p:cNvPr id="6" name="URL chip"/>
          <p:cNvSpPr/>
          <p:nvPr/>
        </p:nvSpPr>
        <p:spPr>
          <a:xfrm>
            <a:off x="548640" y="1600200"/>
            <a:ext cx="3840480" cy="384048"/>
          </a:xfrm>
          <a:prstGeom prst="roundRect">
            <a:avLst>
              <a:gd name="adj" fmla="val 50000"/>
            </a:avLst>
          </a:prstGeom>
          <a:solidFill>
            <a:schemeClr val="bg1">
              <a:alpha val="12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548640" y="1600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chemeClr val="accent5"/>
                </a:solidFill>
              </a:rPr>
              <a:t>Dashboard: http://localhost:3000</a:t>
            </a:r>
            <a:endParaRPr lang="en-US" sz="1300" dirty="0"/>
          </a:p>
        </p:txBody>
      </p:sp>
      <p:sp>
        <p:nvSpPr>
          <p:cNvPr id="8" name="Demo card 1"/>
          <p:cNvSpPr/>
          <p:nvPr/>
        </p:nvSpPr>
        <p:spPr>
          <a:xfrm>
            <a:off x="54864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1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2296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Off-peak midday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Low demand along the corridor.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15–20 min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82296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longer headway</a:t>
            </a:r>
            <a:endParaRPr lang="en-US" sz="1200" dirty="0"/>
          </a:p>
        </p:txBody>
      </p:sp>
      <p:sp>
        <p:nvSpPr>
          <p:cNvPr id="15" name="Demo card 2"/>
          <p:cNvSpPr/>
          <p:nvPr/>
        </p:nvSpPr>
        <p:spPr>
          <a:xfrm>
            <a:off x="429768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57200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457200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Morning peak, 07:30 inbound</a:t>
            </a:r>
            <a:endParaRPr lang="en-US" sz="1900" dirty="0"/>
          </a:p>
        </p:txBody>
      </p:sp>
      <p:sp>
        <p:nvSpPr>
          <p:cNvPr id="19" name="Text 17"/>
          <p:cNvSpPr txBox="1"/>
          <p:nvPr/>
        </p:nvSpPr>
        <p:spPr>
          <a:xfrm>
            <a:off x="457200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Headway tightens and bottleneck stops are highlighted.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3–5 min</a:t>
            </a:r>
            <a:endParaRPr lang="en-US" sz="3600" dirty="0"/>
          </a:p>
        </p:txBody>
      </p:sp>
      <p:sp>
        <p:nvSpPr>
          <p:cNvPr id="21" name="Text 19"/>
          <p:cNvSpPr txBox="1"/>
          <p:nvPr/>
        </p:nvSpPr>
        <p:spPr>
          <a:xfrm>
            <a:off x="457200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tighter headway</a:t>
            </a:r>
            <a:endParaRPr lang="en-US" sz="1200" dirty="0"/>
          </a:p>
        </p:txBody>
      </p:sp>
      <p:sp>
        <p:nvSpPr>
          <p:cNvPr id="22" name="Demo card 3"/>
          <p:cNvSpPr/>
          <p:nvPr/>
        </p:nvSpPr>
        <p:spPr>
          <a:xfrm>
            <a:off x="8046720" y="22860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1">
              <a:alpha val="1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8321040" y="2560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 txBox="1"/>
          <p:nvPr/>
        </p:nvSpPr>
        <p:spPr>
          <a:xfrm>
            <a:off x="8321040" y="25603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</a:rPr>
              <a:t>3</a:t>
            </a:r>
            <a:endParaRPr lang="en-US" sz="24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383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900" b="1" dirty="0">
                <a:solidFill>
                  <a:schemeClr val="bg1"/>
                </a:solidFill>
              </a:rPr>
              <a:t>Toggle rain or school rush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0690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accent5"/>
                </a:solidFill>
              </a:rPr>
              <a:t>Dispatch headway and ETA respond instantly.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4632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chemeClr val="accent2"/>
                </a:solidFill>
              </a:rPr>
              <a:t>Live</a:t>
            </a:r>
            <a:endParaRPr lang="en-US" sz="36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54406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instant update</a:t>
            </a:r>
            <a:endParaRPr lang="en-US" sz="1200" dirty="0"/>
          </a:p>
        </p:txBody>
      </p:sp>
      <p:sp>
        <p:nvSpPr>
          <p:cNvPr id="2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1"/>
                </a:solidFill>
              </a:rPr>
              <a:t>PART 4 · CONCLUSION</a:t>
            </a:r>
            <a:endParaRPr lang="en-US" sz="1200" dirty="0"/>
          </a:p>
        </p:txBody>
      </p:sp>
      <p:sp>
        <p:nvSpPr>
          <p:cNvPr id="3" name="Presenter pill"/>
          <p:cNvSpPr/>
          <p:nvPr/>
        </p:nvSpPr>
        <p:spPr>
          <a:xfrm>
            <a:off x="9144000" y="301752"/>
            <a:ext cx="2468880" cy="347472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 txBox="1"/>
          <p:nvPr/>
        </p:nvSpPr>
        <p:spPr>
          <a:xfrm>
            <a:off x="9144000" y="301752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tx2"/>
                </a:solidFill>
              </a:rPr>
              <a:t>Presenter · JGJB Gamage</a:t>
            </a:r>
            <a:endParaRPr lang="en-US" sz="1100" dirty="0"/>
          </a:p>
        </p:txBody>
      </p:sp>
      <p:sp>
        <p:nvSpPr>
          <p:cNvPr id="5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7315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400" b="1" dirty="0">
                <a:solidFill>
                  <a:schemeClr val="tx2"/>
                </a:solidFill>
              </a:rPr>
              <a:t>Impact, scalability and future work</a:t>
            </a:r>
            <a:endParaRPr lang="en-US" sz="3400" dirty="0"/>
          </a:p>
        </p:txBody>
      </p:sp>
      <p:sp>
        <p:nvSpPr>
          <p:cNvPr id="6" name="Impact card 1"/>
          <p:cNvSpPr/>
          <p:nvPr/>
        </p:nvSpPr>
        <p:spPr>
          <a:xfrm>
            <a:off x="54864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Impact icon 1"/>
          <p:cNvSpPr/>
          <p:nvPr/>
        </p:nvSpPr>
        <p:spPr>
          <a:xfrm>
            <a:off x="82296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pact icon 1 icon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155" y="2293315"/>
            <a:ext cx="351130" cy="35113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2296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Operational impact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611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Removes guesswork for depot masters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Reduces passenger waiting time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Matches fleet to predicted demand</a:t>
            </a:r>
            <a:endParaRPr lang="en-US" sz="1600" dirty="0"/>
          </a:p>
        </p:txBody>
      </p:sp>
      <p:sp>
        <p:nvSpPr>
          <p:cNvPr id="11" name="Impact card 2"/>
          <p:cNvSpPr/>
          <p:nvPr/>
        </p:nvSpPr>
        <p:spPr>
          <a:xfrm>
            <a:off x="429768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Impact icon 2"/>
          <p:cNvSpPr/>
          <p:nvPr/>
        </p:nvSpPr>
        <p:spPr>
          <a:xfrm>
            <a:off x="457200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3" name="Impact icon 2 icon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195" y="2293315"/>
            <a:ext cx="351130" cy="35113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57200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Scalability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0" y="36118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Extend to Routes 120, 138 and 177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Reusable data and training pipeline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Same API and dashboard design</a:t>
            </a:r>
            <a:endParaRPr lang="en-US" sz="1600" dirty="0"/>
          </a:p>
        </p:txBody>
      </p:sp>
      <p:sp>
        <p:nvSpPr>
          <p:cNvPr id="16" name="Impact card 3"/>
          <p:cNvSpPr/>
          <p:nvPr/>
        </p:nvSpPr>
        <p:spPr>
          <a:xfrm>
            <a:off x="8046720" y="1828800"/>
            <a:ext cx="3566160" cy="3657600"/>
          </a:xfrm>
          <a:prstGeom prst="roundRect">
            <a:avLst>
              <a:gd name="adj" fmla="val 3077"/>
            </a:avLst>
          </a:prstGeom>
          <a:solidFill>
            <a:schemeClr val="bg2"/>
          </a:solidFill>
          <a:ln/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Impact icon 3"/>
          <p:cNvSpPr/>
          <p:nvPr/>
        </p:nvSpPr>
        <p:spPr>
          <a:xfrm>
            <a:off x="8321040" y="21031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pact icon 3 icon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1235" y="2293315"/>
            <a:ext cx="351130" cy="35113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21040" y="30175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chemeClr val="tx2"/>
                </a:solidFill>
              </a:rPr>
              <a:t>Future work</a:t>
            </a:r>
            <a:endParaRPr lang="en-US" sz="2200" dirty="0"/>
          </a:p>
        </p:txBody>
      </p:sp>
      <p:sp>
        <p:nvSpPr>
          <p:cNvPr id="20" name="Text 15"/>
          <p:cNvSpPr txBox="1"/>
          <p:nvPr/>
        </p:nvSpPr>
        <p:spPr>
          <a:xfrm>
            <a:off x="8321040" y="3611880"/>
            <a:ext cx="30175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Integrate with the LMT Go app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Use live bus crowd data to dispatch buses ahead of demand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Periodic model retraining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Multi-route fleet balancing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548640" y="2761488"/>
            <a:ext cx="69494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chemeClr val="bg1"/>
                </a:solidFill>
              </a:rPr>
              <a:t>Thank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76072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accent5"/>
                </a:solidFill>
              </a:rPr>
              <a:t>AI-Powered Dynamic Public Transport Fleet Optimizer (Route 100)  ·  Group 40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223760" y="1463040"/>
            <a:ext cx="0" cy="329184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Member dot 1"/>
          <p:cNvSpPr/>
          <p:nvPr/>
        </p:nvSpPr>
        <p:spPr>
          <a:xfrm>
            <a:off x="7095744" y="133502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7589520" y="12801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 Uvaram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589520" y="16642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D/BSE/25/0012  ·  Software Engineering</a:t>
            </a:r>
            <a:endParaRPr lang="en-US" sz="1200" dirty="0"/>
          </a:p>
        </p:txBody>
      </p:sp>
      <p:sp>
        <p:nvSpPr>
          <p:cNvPr id="9" name="Member dot 2"/>
          <p:cNvSpPr/>
          <p:nvPr/>
        </p:nvSpPr>
        <p:spPr>
          <a:xfrm>
            <a:off x="7095744" y="243230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 txBox="1"/>
          <p:nvPr/>
        </p:nvSpPr>
        <p:spPr>
          <a:xfrm>
            <a:off x="7589520" y="2377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TTC Jayasinghe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7589520" y="27614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D/DBA/25/0016  ·  Data Science &amp; Business Analytics</a:t>
            </a:r>
            <a:endParaRPr lang="en-US" sz="1200" dirty="0"/>
          </a:p>
        </p:txBody>
      </p:sp>
      <p:sp>
        <p:nvSpPr>
          <p:cNvPr id="12" name="Member dot 3"/>
          <p:cNvSpPr/>
          <p:nvPr/>
        </p:nvSpPr>
        <p:spPr>
          <a:xfrm>
            <a:off x="7095744" y="352958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589520" y="347472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SNMRDS Arambepola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589520" y="3858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D/BIT/24/0039  ·  Information Technology</a:t>
            </a:r>
            <a:endParaRPr lang="en-US" sz="1200" dirty="0"/>
          </a:p>
        </p:txBody>
      </p:sp>
      <p:sp>
        <p:nvSpPr>
          <p:cNvPr id="15" name="Member dot 4"/>
          <p:cNvSpPr/>
          <p:nvPr/>
        </p:nvSpPr>
        <p:spPr>
          <a:xfrm>
            <a:off x="7095744" y="4626864"/>
            <a:ext cx="256032" cy="256032"/>
          </a:xfrm>
          <a:prstGeom prst="ellipse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 txBox="1"/>
          <p:nvPr/>
        </p:nvSpPr>
        <p:spPr>
          <a:xfrm>
            <a:off x="758952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JGJB Gamage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7589520" y="495604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accent5"/>
                </a:solidFill>
              </a:rPr>
              <a:t>D/BIT/24/0056  ·  Information Technology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oute100">
  <a:themeElements>
    <a:clrScheme name="Route100">
      <a:dk1>
        <a:srgbClr val="13222E"/>
      </a:dk1>
      <a:lt1>
        <a:srgbClr val="FFFFFF"/>
      </a:lt1>
      <a:dk2>
        <a:srgbClr val="0B2545"/>
      </a:dk2>
      <a:lt2>
        <a:srgbClr val="EAF2F7"/>
      </a:lt2>
      <a:accent1>
        <a:srgbClr val="0B8A80"/>
      </a:accent1>
      <a:accent2>
        <a:srgbClr val="F2A900"/>
      </a:accent2>
      <a:accent3>
        <a:srgbClr val="D9482B"/>
      </a:accent3>
      <a:accent4>
        <a:srgbClr val="5B6B7A"/>
      </a:accent4>
      <a:accent5>
        <a:srgbClr val="8DB3D1"/>
      </a:accent5>
      <a:accent6>
        <a:srgbClr val="2E7D4F"/>
      </a:accent6>
      <a:hlink>
        <a:srgbClr val="0B8A80"/>
      </a:hlink>
      <a:folHlink>
        <a:srgbClr val="5B6B7A"/>
      </a:folHlink>
    </a:clrScheme>
    <a:fontScheme name="Route100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1613</Words>
  <Application>Microsoft Office PowerPoint</Application>
  <PresentationFormat>Widescreen</PresentationFormat>
  <Paragraphs>292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Courier New</vt:lpstr>
      <vt:lpstr>Route100</vt:lpstr>
      <vt:lpstr>AI-Powered Dynamic Public Transport Fleet Optimizer (Route 100)</vt:lpstr>
      <vt:lpstr>Group 40</vt:lpstr>
      <vt:lpstr>Static schedules cause bus bunching</vt:lpstr>
      <vt:lpstr>Modeling Galle Road commute realism</vt:lpstr>
      <vt:lpstr>PyTorch MLP architecture</vt:lpstr>
      <vt:lpstr>Leakage-proof data pipeline</vt:lpstr>
      <vt:lpstr>Model evaluation across slices</vt:lpstr>
      <vt:lpstr>From predictions to dispatch headway</vt:lpstr>
      <vt:lpstr>Congestion-aware corridor ETA</vt:lpstr>
      <vt:lpstr>FastAPI backend with calendar enrichment</vt:lpstr>
      <vt:lpstr>Depot manager dashboard</vt:lpstr>
      <vt:lpstr>Live demonstration</vt:lpstr>
      <vt:lpstr>Impact, scalability and future work</vt:lpstr>
      <vt:lpstr>Thank you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Dynamic Public Transport Fleet Optimizer (Route 100)</dc:title>
  <dc:subject>PptxGenJS Presentation</dc:subject>
  <dc:creator>Group 40</dc:creator>
  <cp:lastModifiedBy>Bm22261182 KMKMK Konara</cp:lastModifiedBy>
  <cp:revision>5</cp:revision>
  <dcterms:created xsi:type="dcterms:W3CDTF">2026-10-08T14:06:04Z</dcterms:created>
  <dcterms:modified xsi:type="dcterms:W3CDTF">2026-10-18T02:09:05Z</dcterms:modified>
</cp:coreProperties>
</file>